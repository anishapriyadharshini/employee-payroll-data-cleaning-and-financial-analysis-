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notesSlides/notesSlide6.xml" ContentType="application/vnd.openxmlformats-officedocument.presentationml.notesSlide+xml"/>
  <Override PartName="/ppt/tags/tag9.xml" ContentType="application/vnd.openxmlformats-officedocument.presentationml.tags+xml"/>
  <Override PartName="/ppt/notesSlides/notesSlide7.xml" ContentType="application/vnd.openxmlformats-officedocument.presentationml.notesSlide+xml"/>
  <Override PartName="/ppt/tags/tag10.xml" ContentType="application/vnd.openxmlformats-officedocument.presentationml.tags+xml"/>
  <Override PartName="/ppt/notesSlides/notesSlide8.xml" ContentType="application/vnd.openxmlformats-officedocument.presentationml.notesSlide+xml"/>
  <Override PartName="/ppt/tags/tag11.xml" ContentType="application/vnd.openxmlformats-officedocument.presentationml.tags+xml"/>
  <Override PartName="/ppt/notesSlides/notesSlide9.xml" ContentType="application/vnd.openxmlformats-officedocument.presentationml.notesSlide+xml"/>
  <Override PartName="/ppt/tags/tag12.xml" ContentType="application/vnd.openxmlformats-officedocument.presentationml.tags+xml"/>
  <Override PartName="/ppt/notesSlides/notesSlide10.xml" ContentType="application/vnd.openxmlformats-officedocument.presentationml.notesSlide+xml"/>
  <Override PartName="/ppt/tags/tag13.xml" ContentType="application/vnd.openxmlformats-officedocument.presentationml.tags+xml"/>
  <Override PartName="/ppt/notesSlides/notesSlide11.xml" ContentType="application/vnd.openxmlformats-officedocument.presentationml.notesSlide+xml"/>
  <Override PartName="/ppt/tags/tag14.xml" ContentType="application/vnd.openxmlformats-officedocument.presentationml.tags+xml"/>
  <Override PartName="/ppt/notesSlides/notesSlide12.xml" ContentType="application/vnd.openxmlformats-officedocument.presentationml.notesSlide+xml"/>
  <Override PartName="/ppt/tags/tag15.xml" ContentType="application/vnd.openxmlformats-officedocument.presentationml.tags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68" r:id="rId2"/>
    <p:sldId id="269" r:id="rId3"/>
    <p:sldId id="257" r:id="rId4"/>
    <p:sldId id="258" r:id="rId5"/>
    <p:sldId id="259" r:id="rId6"/>
    <p:sldId id="260" r:id="rId7"/>
    <p:sldId id="261" r:id="rId8"/>
    <p:sldId id="270" r:id="rId9"/>
    <p:sldId id="262" r:id="rId10"/>
    <p:sldId id="263" r:id="rId11"/>
    <p:sldId id="271" r:id="rId12"/>
    <p:sldId id="272" r:id="rId13"/>
    <p:sldId id="264" r:id="rId14"/>
    <p:sldId id="265" r:id="rId15"/>
    <p:sldId id="266" r:id="rId16"/>
  </p:sldIdLst>
  <p:sldSz cx="9144000" cy="5143500" type="screen16x9"/>
  <p:notesSz cx="5143500" cy="9144000"/>
  <p:custDataLst>
    <p:tags r:id="rId18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>
          <p15:clr>
            <a:srgbClr val="A4A3A4"/>
          </p15:clr>
        </p15:guide>
        <p15:guide id="2" orient="horz" pos="852">
          <p15:clr>
            <a:srgbClr val="A4A3A4"/>
          </p15:clr>
        </p15:guide>
        <p15:guide id="3" pos="14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FF91"/>
    <a:srgbClr val="EDDBFF"/>
    <a:srgbClr val="D7B0FF"/>
    <a:srgbClr val="ADFFCA"/>
    <a:srgbClr val="E6FF82"/>
    <a:srgbClr val="A8AEFF"/>
    <a:srgbClr val="99A0FF"/>
    <a:srgbClr val="FFD599"/>
    <a:srgbClr val="F7FF82"/>
    <a:srgbClr val="F2FF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1C69-D3A7-458F-8E74-513CC3136674}" v="1418" dt="2026-05-08T20:25:28.1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33" autoAdjust="0"/>
  </p:normalViewPr>
  <p:slideViewPr>
    <p:cSldViewPr snapToGrid="0">
      <p:cViewPr varScale="1">
        <p:scale>
          <a:sx n="102" d="100"/>
          <a:sy n="102" d="100"/>
        </p:scale>
        <p:origin x="72" y="139"/>
      </p:cViewPr>
      <p:guideLst>
        <p:guide orient="horz" pos="612"/>
        <p:guide orient="horz" pos="85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Image Placeholder 1">
            <a:extLst>
              <a:ext uri="{FF2B5EF4-FFF2-40B4-BE49-F238E27FC236}">
                <a16:creationId xmlns:a16="http://schemas.microsoft.com/office/drawing/2014/main" id="{743EF56E-2356-6B02-5756-CE531D05034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5" name="Notes Placeholder 2">
            <a:extLst>
              <a:ext uri="{FF2B5EF4-FFF2-40B4-BE49-F238E27FC236}">
                <a16:creationId xmlns:a16="http://schemas.microsoft.com/office/drawing/2014/main" id="{527D80E7-A3C7-D658-45AB-54DE11AC9C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I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id="{2CB36F51-45DA-BF7E-596F-1411380B7ABA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id="{378BB2FC-87FC-235D-3550-B29E401AC5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id="{CBAC57AD-D8A7-7A39-B5D6-388C24FA4E3F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73E39314-3137-44CB-BEC2-32AE53801DD8}" type="slidenum">
              <a:rPr lang="en-US" altLang="en-US"/>
              <a:pPr eaLnBrk="1" hangingPunct="1"/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12DEECA9-1105-012C-B39A-16DE642020D2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BFE43DC2-F8E2-E8FB-7182-4A27CFF771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4AD67E73-2562-1DE8-0915-F95F2A9A3A5C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9BB41277-7C7A-4F2B-8085-5BEA18D2B4EC}" type="slidenum">
              <a:rPr lang="en-US" altLang="en-US"/>
              <a:pPr eaLnBrk="1" hangingPunct="1"/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8856F828-2A0F-D60F-D19F-6811B8A3616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1F79DDA8-4F65-0903-BDC0-91516FB2E3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0584990D-4905-816A-2E05-6E0E0A7B44E5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D85D3DD3-5695-42C2-9A13-F0CA7A865780}" type="slidenum">
              <a:rPr lang="en-US" altLang="en-US"/>
              <a:pPr eaLnBrk="1" hangingPunct="1"/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1789C192-A31F-8E2C-EEC9-2D3D28BF9D89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FF4FF1D9-9A4A-52DF-1513-6E78EBF752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BA799C2F-F2EA-0331-3E4E-6766983E7F17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509239C0-02C0-4B63-A5DB-995F7DA05F7A}" type="slidenum">
              <a:rPr lang="en-US" altLang="en-US"/>
              <a:pPr eaLnBrk="1" hangingPunct="1"/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F46F83F6-7B0C-A0F2-D736-CBA11928847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D534AEB8-1B8F-720B-7B5A-2932904061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1326CB71-3FF6-746A-6732-3513514483A3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5937F0B5-8C00-46DC-BC1C-939796C10BB5}" type="slidenum">
              <a:rPr lang="en-US" altLang="en-US"/>
              <a:pPr eaLnBrk="1" hangingPunct="1"/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6B2A74A3-B3C2-7823-A15E-3A33D6A25425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A85AA304-D2A0-9592-5517-FDAA37BBA7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372F02ED-BAF2-50FE-CFC2-993D9CBE30EC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625F2508-7843-4A41-9FCA-A9BCE7A7D2DE}" type="slidenum">
              <a:rPr lang="en-US" altLang="en-US"/>
              <a:pPr eaLnBrk="1" hangingPunct="1"/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E8533FC6-810B-D7D8-24CC-4BDD53774C67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45AE764A-3AA5-BD8E-94BC-0D46A0FB8C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F991CE71-A636-C51F-2DF7-0A59C8874894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73D9332D-A3F3-44FF-B7E9-C3B575B1BB2A}" type="slidenum">
              <a:rPr lang="en-US" altLang="en-US"/>
              <a:pPr eaLnBrk="1" hangingPunct="1"/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A3B43-AB34-18C8-2465-0A2A0B1AE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45558722-CD32-FCBD-4B8F-6C382BC6E660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021C0E4C-A701-6C97-827A-0DA80DC63F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1159B94A-2FF9-A9FB-9152-F9E61B768A67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73D9332D-A3F3-44FF-B7E9-C3B575B1BB2A}" type="slidenum">
              <a:rPr lang="en-US" altLang="en-US"/>
              <a:pPr eaLnBrk="1" hangingPunct="1"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83929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E9A65-DAE1-2CA0-08FB-E10C549EB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A3708625-388B-9C13-7D2B-C515ED319924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A0C411A8-9C69-078E-67B8-899DCBF5A3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FA3C5E36-AE44-F4F1-F845-30272909AC7B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73D9332D-A3F3-44FF-B7E9-C3B575B1BB2A}" type="slidenum">
              <a:rPr lang="en-US" altLang="en-US"/>
              <a:pPr eaLnBrk="1" hangingPunct="1"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72366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A5AEA5D1-A98D-8D0F-F723-8FC14DDA3FB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82E430AA-7490-F270-645A-38B2E6E6B0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A83AC462-DA2F-02AF-D9BA-CA9FAE86E271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97B5542F-C7F8-4D14-83CE-06DFA1E00291}" type="slidenum">
              <a:rPr lang="en-US" altLang="en-US"/>
              <a:pPr eaLnBrk="1" hangingPunct="1"/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>
            <a:extLst>
              <a:ext uri="{FF2B5EF4-FFF2-40B4-BE49-F238E27FC236}">
                <a16:creationId xmlns:a16="http://schemas.microsoft.com/office/drawing/2014/main" id="{DE7DEDB9-AE14-50F9-F7BA-4387A3FD93E7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3555" name="Notes Placeholder 2">
            <a:extLst>
              <a:ext uri="{FF2B5EF4-FFF2-40B4-BE49-F238E27FC236}">
                <a16:creationId xmlns:a16="http://schemas.microsoft.com/office/drawing/2014/main" id="{80995794-7CAA-373A-1D85-4B51036187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516FE4CF-CE5C-AE40-A037-FA26E89D3575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2054A988-4F1E-4805-BE50-03C2836C1825}" type="slidenum">
              <a:rPr lang="en-US" altLang="en-US"/>
              <a:pPr eaLnBrk="1" hangingPunct="1"/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>
            <a:extLst>
              <a:ext uri="{FF2B5EF4-FFF2-40B4-BE49-F238E27FC236}">
                <a16:creationId xmlns:a16="http://schemas.microsoft.com/office/drawing/2014/main" id="{58EFD6A7-0FD4-0442-4B95-6562D7FF8EFE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5603" name="Notes Placeholder 2">
            <a:extLst>
              <a:ext uri="{FF2B5EF4-FFF2-40B4-BE49-F238E27FC236}">
                <a16:creationId xmlns:a16="http://schemas.microsoft.com/office/drawing/2014/main" id="{D0C4DF27-68AA-73AA-CA59-33C67781B1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5604" name="Slide Number Placeholder 3">
            <a:extLst>
              <a:ext uri="{FF2B5EF4-FFF2-40B4-BE49-F238E27FC236}">
                <a16:creationId xmlns:a16="http://schemas.microsoft.com/office/drawing/2014/main" id="{062286B1-E529-A089-8F71-9FB29D7D2BEE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A134ED96-E5BB-40FC-9FF6-6F49B62C6EEF}" type="slidenum">
              <a:rPr lang="en-US" altLang="en-US"/>
              <a:pPr eaLnBrk="1" hangingPunct="1"/>
              <a:t>15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8704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9368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8">
            <a:extLst>
              <a:ext uri="{FF2B5EF4-FFF2-40B4-BE49-F238E27FC236}">
                <a16:creationId xmlns:a16="http://schemas.microsoft.com/office/drawing/2014/main" id="{FC91288C-8C1D-9900-4F6A-EBE891414AE2}"/>
              </a:ext>
            </a:extLst>
          </p:cNvPr>
          <p:cNvGrpSpPr>
            <a:grpSpLocks/>
          </p:cNvGrpSpPr>
          <p:nvPr userDrawn="1"/>
        </p:nvGrpSpPr>
        <p:grpSpPr bwMode="auto">
          <a:xfrm flipH="1">
            <a:off x="0" y="5035550"/>
            <a:ext cx="9144000" cy="107950"/>
            <a:chOff x="0" y="0"/>
            <a:chExt cx="4402382" cy="66464"/>
          </a:xfrm>
        </p:grpSpPr>
        <p:sp>
          <p:nvSpPr>
            <p:cNvPr id="1031" name="Freeform 9">
              <a:extLst>
                <a:ext uri="{FF2B5EF4-FFF2-40B4-BE49-F238E27FC236}">
                  <a16:creationId xmlns:a16="http://schemas.microsoft.com/office/drawing/2014/main" id="{D682ADD0-78B3-15CC-F2E8-71D03CBC697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4402382" cy="66464"/>
            </a:xfrm>
            <a:custGeom>
              <a:avLst/>
              <a:gdLst>
                <a:gd name="T0" fmla="*/ 0 w 4402382"/>
                <a:gd name="T1" fmla="*/ 0 h 66464"/>
                <a:gd name="T2" fmla="*/ 4402382 w 4402382"/>
                <a:gd name="T3" fmla="*/ 0 h 66464"/>
                <a:gd name="T4" fmla="*/ 4402382 w 4402382"/>
                <a:gd name="T5" fmla="*/ 66464 h 66464"/>
                <a:gd name="T6" fmla="*/ 0 w 4402382"/>
                <a:gd name="T7" fmla="*/ 66464 h 66464"/>
                <a:gd name="T8" fmla="*/ 0 w 4402382"/>
                <a:gd name="T9" fmla="*/ 0 h 664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/>
                </a:gs>
                <a:gs pos="100000">
                  <a:srgbClr val="2A83D0"/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32" name="TextBox 10">
              <a:extLst>
                <a:ext uri="{FF2B5EF4-FFF2-40B4-BE49-F238E27FC236}">
                  <a16:creationId xmlns:a16="http://schemas.microsoft.com/office/drawing/2014/main" id="{A973D5AE-C87F-BD2A-2536-45A7E95560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-38119"/>
              <a:ext cx="4402382" cy="104583"/>
            </a:xfrm>
            <a:prstGeom prst="rect">
              <a:avLst/>
            </a:prstGeom>
            <a:noFill/>
            <a:ln>
              <a:noFill/>
            </a:ln>
          </p:spPr>
          <p:txBody>
            <a:bodyPr lIns="50800" tIns="50800" rIns="50800" bIns="5080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ts val="2663"/>
                </a:lnSpc>
                <a:defRPr/>
              </a:pPr>
              <a:endParaRPr lang="en-US" altLang="en-US"/>
            </a:p>
          </p:txBody>
        </p:sp>
      </p:grpSp>
      <p:grpSp>
        <p:nvGrpSpPr>
          <p:cNvPr id="1027" name="Group 8">
            <a:extLst>
              <a:ext uri="{FF2B5EF4-FFF2-40B4-BE49-F238E27FC236}">
                <a16:creationId xmlns:a16="http://schemas.microsoft.com/office/drawing/2014/main" id="{162E0169-DCF6-0040-92E8-6E77AE71CDF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0"/>
            <a:ext cx="9144000" cy="423863"/>
            <a:chOff x="0" y="0"/>
            <a:chExt cx="4402382" cy="66464"/>
          </a:xfrm>
        </p:grpSpPr>
        <p:sp>
          <p:nvSpPr>
            <p:cNvPr id="1029" name="Freeform 9">
              <a:extLst>
                <a:ext uri="{FF2B5EF4-FFF2-40B4-BE49-F238E27FC236}">
                  <a16:creationId xmlns:a16="http://schemas.microsoft.com/office/drawing/2014/main" id="{F3156718-9619-D257-C5D2-1BA2B36957C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4402382" cy="66464"/>
            </a:xfrm>
            <a:custGeom>
              <a:avLst/>
              <a:gdLst>
                <a:gd name="T0" fmla="*/ 0 w 4402382"/>
                <a:gd name="T1" fmla="*/ 0 h 66464"/>
                <a:gd name="T2" fmla="*/ 4402382 w 4402382"/>
                <a:gd name="T3" fmla="*/ 0 h 66464"/>
                <a:gd name="T4" fmla="*/ 4402382 w 4402382"/>
                <a:gd name="T5" fmla="*/ 66464 h 66464"/>
                <a:gd name="T6" fmla="*/ 0 w 4402382"/>
                <a:gd name="T7" fmla="*/ 66464 h 66464"/>
                <a:gd name="T8" fmla="*/ 0 w 4402382"/>
                <a:gd name="T9" fmla="*/ 0 h 664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/>
                </a:gs>
                <a:gs pos="100000">
                  <a:srgbClr val="2A83D0"/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30" name="TextBox 10">
              <a:extLst>
                <a:ext uri="{FF2B5EF4-FFF2-40B4-BE49-F238E27FC236}">
                  <a16:creationId xmlns:a16="http://schemas.microsoft.com/office/drawing/2014/main" id="{413C3844-C3E4-3403-EC4A-4BB12A0A49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-38086"/>
              <a:ext cx="4402382" cy="104550"/>
            </a:xfrm>
            <a:prstGeom prst="rect">
              <a:avLst/>
            </a:prstGeom>
            <a:noFill/>
            <a:ln>
              <a:noFill/>
            </a:ln>
          </p:spPr>
          <p:txBody>
            <a:bodyPr lIns="50800" tIns="50800" rIns="50800" bIns="5080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ts val="2663"/>
                </a:lnSpc>
                <a:defRPr/>
              </a:pPr>
              <a:endParaRPr lang="en-US" altLang="en-US"/>
            </a:p>
          </p:txBody>
        </p:sp>
      </p:grpSp>
      <p:pic>
        <p:nvPicPr>
          <p:cNvPr id="102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53D010C0-0939-F1E8-1B55-2910E81B3E4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0025" y="55563"/>
            <a:ext cx="965200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4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257B2201-B85D-ACBE-FD0D-F0F1B6ECC13D}"/>
              </a:ext>
            </a:extLst>
          </p:cNvPr>
          <p:cNvSpPr/>
          <p:nvPr/>
        </p:nvSpPr>
        <p:spPr>
          <a:xfrm>
            <a:off x="365125" y="652463"/>
            <a:ext cx="3603625" cy="485775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grpSp>
        <p:nvGrpSpPr>
          <p:cNvPr id="2051" name="Group 2">
            <a:extLst>
              <a:ext uri="{FF2B5EF4-FFF2-40B4-BE49-F238E27FC236}">
                <a16:creationId xmlns:a16="http://schemas.microsoft.com/office/drawing/2014/main" id="{1B6AB46B-3C67-5AFC-D4B4-ED1B6C3F34A1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4152900" cy="125413"/>
            <a:chOff x="0" y="0"/>
            <a:chExt cx="2187782" cy="66464"/>
          </a:xfrm>
        </p:grpSpPr>
        <p:sp>
          <p:nvSpPr>
            <p:cNvPr id="2099" name="Freeform 3">
              <a:extLst>
                <a:ext uri="{FF2B5EF4-FFF2-40B4-BE49-F238E27FC236}">
                  <a16:creationId xmlns:a16="http://schemas.microsoft.com/office/drawing/2014/main" id="{1BEF8E09-1080-6B94-EC24-43FCCB950FD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187782" cy="66464"/>
            </a:xfrm>
            <a:custGeom>
              <a:avLst/>
              <a:gdLst>
                <a:gd name="T0" fmla="*/ 0 w 2187782"/>
                <a:gd name="T1" fmla="*/ 0 h 66464"/>
                <a:gd name="T2" fmla="*/ 2187782 w 2187782"/>
                <a:gd name="T3" fmla="*/ 0 h 66464"/>
                <a:gd name="T4" fmla="*/ 2187782 w 2187782"/>
                <a:gd name="T5" fmla="*/ 66464 h 66464"/>
                <a:gd name="T6" fmla="*/ 0 w 2187782"/>
                <a:gd name="T7" fmla="*/ 66464 h 66464"/>
                <a:gd name="T8" fmla="*/ 0 w 2187782"/>
                <a:gd name="T9" fmla="*/ 0 h 664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/>
                </a:gs>
                <a:gs pos="100000">
                  <a:srgbClr val="2A83D0"/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00" name="TextBox 4">
              <a:extLst>
                <a:ext uri="{FF2B5EF4-FFF2-40B4-BE49-F238E27FC236}">
                  <a16:creationId xmlns:a16="http://schemas.microsoft.com/office/drawing/2014/main" id="{8266E2D9-C86D-9992-3F1B-329C67BE6D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-38100"/>
              <a:ext cx="2187782" cy="1045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5400" tIns="25400" rIns="25400" bIns="2540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ts val="1325"/>
                </a:lnSpc>
              </a:pPr>
              <a:endParaRPr lang="en-US" altLang="en-US" sz="700"/>
            </a:p>
          </p:txBody>
        </p:sp>
      </p:grpSp>
      <p:grpSp>
        <p:nvGrpSpPr>
          <p:cNvPr id="2052" name="Group 5">
            <a:extLst>
              <a:ext uri="{FF2B5EF4-FFF2-40B4-BE49-F238E27FC236}">
                <a16:creationId xmlns:a16="http://schemas.microsoft.com/office/drawing/2014/main" id="{EA26D53A-69FF-35DA-1CCD-0AA7A9F9AA17}"/>
              </a:ext>
            </a:extLst>
          </p:cNvPr>
          <p:cNvGrpSpPr>
            <a:grpSpLocks/>
          </p:cNvGrpSpPr>
          <p:nvPr/>
        </p:nvGrpSpPr>
        <p:grpSpPr bwMode="auto">
          <a:xfrm>
            <a:off x="0" y="5018088"/>
            <a:ext cx="7570788" cy="125412"/>
            <a:chOff x="0" y="0"/>
            <a:chExt cx="3988171" cy="66464"/>
          </a:xfrm>
        </p:grpSpPr>
        <p:sp>
          <p:nvSpPr>
            <p:cNvPr id="2097" name="Freeform 6">
              <a:extLst>
                <a:ext uri="{FF2B5EF4-FFF2-40B4-BE49-F238E27FC236}">
                  <a16:creationId xmlns:a16="http://schemas.microsoft.com/office/drawing/2014/main" id="{7990370B-B967-A8F1-0846-45D71FA6AA8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988171" cy="66464"/>
            </a:xfrm>
            <a:custGeom>
              <a:avLst/>
              <a:gdLst>
                <a:gd name="T0" fmla="*/ 0 w 3988171"/>
                <a:gd name="T1" fmla="*/ 0 h 66464"/>
                <a:gd name="T2" fmla="*/ 3988171 w 3988171"/>
                <a:gd name="T3" fmla="*/ 0 h 66464"/>
                <a:gd name="T4" fmla="*/ 3988171 w 3988171"/>
                <a:gd name="T5" fmla="*/ 66464 h 66464"/>
                <a:gd name="T6" fmla="*/ 0 w 3988171"/>
                <a:gd name="T7" fmla="*/ 66464 h 66464"/>
                <a:gd name="T8" fmla="*/ 0 w 3988171"/>
                <a:gd name="T9" fmla="*/ 0 h 664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/>
                </a:gs>
                <a:gs pos="100000">
                  <a:srgbClr val="2A83D0"/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98" name="TextBox 7">
              <a:extLst>
                <a:ext uri="{FF2B5EF4-FFF2-40B4-BE49-F238E27FC236}">
                  <a16:creationId xmlns:a16="http://schemas.microsoft.com/office/drawing/2014/main" id="{DC29EB66-FF6F-439B-3A1B-24D700A4B0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-38100"/>
              <a:ext cx="3988171" cy="1045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5400" tIns="25400" rIns="25400" bIns="2540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ts val="1325"/>
                </a:lnSpc>
              </a:pPr>
              <a:endParaRPr lang="en-US" altLang="en-US" sz="700"/>
            </a:p>
          </p:txBody>
        </p:sp>
      </p:grpSp>
      <p:grpSp>
        <p:nvGrpSpPr>
          <p:cNvPr id="2053" name="Group 8">
            <a:extLst>
              <a:ext uri="{FF2B5EF4-FFF2-40B4-BE49-F238E27FC236}">
                <a16:creationId xmlns:a16="http://schemas.microsoft.com/office/drawing/2014/main" id="{016DB54A-C9D3-26DE-A6F6-CA8C15F86DE7}"/>
              </a:ext>
            </a:extLst>
          </p:cNvPr>
          <p:cNvGrpSpPr>
            <a:grpSpLocks/>
          </p:cNvGrpSpPr>
          <p:nvPr/>
        </p:nvGrpSpPr>
        <p:grpSpPr bwMode="auto">
          <a:xfrm rot="2700000">
            <a:off x="3661569" y="-529431"/>
            <a:ext cx="4602163" cy="2124075"/>
            <a:chOff x="0" y="0"/>
            <a:chExt cx="2424267" cy="1118423"/>
          </a:xfrm>
        </p:grpSpPr>
        <p:sp>
          <p:nvSpPr>
            <p:cNvPr id="2095" name="Freeform 9">
              <a:extLst>
                <a:ext uri="{FF2B5EF4-FFF2-40B4-BE49-F238E27FC236}">
                  <a16:creationId xmlns:a16="http://schemas.microsoft.com/office/drawing/2014/main" id="{BF0A83A9-B8FC-51F8-719A-8883981BB10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424267" cy="1118423"/>
            </a:xfrm>
            <a:custGeom>
              <a:avLst/>
              <a:gdLst>
                <a:gd name="T0" fmla="*/ 0 w 2424267"/>
                <a:gd name="T1" fmla="*/ 0 h 1118423"/>
                <a:gd name="T2" fmla="*/ 2424267 w 2424267"/>
                <a:gd name="T3" fmla="*/ 0 h 1118423"/>
                <a:gd name="T4" fmla="*/ 2424267 w 2424267"/>
                <a:gd name="T5" fmla="*/ 1118423 h 1118423"/>
                <a:gd name="T6" fmla="*/ 0 w 2424267"/>
                <a:gd name="T7" fmla="*/ 1118423 h 1118423"/>
                <a:gd name="T8" fmla="*/ 0 w 2424267"/>
                <a:gd name="T9" fmla="*/ 0 h 11184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/>
                </a:gs>
                <a:gs pos="100000">
                  <a:srgbClr val="2A83D0"/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96" name="TextBox 10">
              <a:extLst>
                <a:ext uri="{FF2B5EF4-FFF2-40B4-BE49-F238E27FC236}">
                  <a16:creationId xmlns:a16="http://schemas.microsoft.com/office/drawing/2014/main" id="{71C7156D-CDC1-D714-03D1-095BD585A4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-38100"/>
              <a:ext cx="2424267" cy="1156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5400" tIns="25400" rIns="25400" bIns="2540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ts val="1325"/>
                </a:lnSpc>
              </a:pPr>
              <a:endParaRPr lang="en-US" altLang="en-US" sz="700"/>
            </a:p>
          </p:txBody>
        </p:sp>
      </p:grpSp>
      <p:grpSp>
        <p:nvGrpSpPr>
          <p:cNvPr id="2054" name="Group 11">
            <a:extLst>
              <a:ext uri="{FF2B5EF4-FFF2-40B4-BE49-F238E27FC236}">
                <a16:creationId xmlns:a16="http://schemas.microsoft.com/office/drawing/2014/main" id="{874CF0AF-6267-F435-20A8-42421A6063F2}"/>
              </a:ext>
            </a:extLst>
          </p:cNvPr>
          <p:cNvGrpSpPr>
            <a:grpSpLocks/>
          </p:cNvGrpSpPr>
          <p:nvPr/>
        </p:nvGrpSpPr>
        <p:grpSpPr bwMode="auto">
          <a:xfrm rot="2700000">
            <a:off x="5632450" y="304800"/>
            <a:ext cx="3724275" cy="1063625"/>
            <a:chOff x="0" y="0"/>
            <a:chExt cx="1961656" cy="560668"/>
          </a:xfrm>
        </p:grpSpPr>
        <p:sp>
          <p:nvSpPr>
            <p:cNvPr id="2093" name="Freeform 12">
              <a:extLst>
                <a:ext uri="{FF2B5EF4-FFF2-40B4-BE49-F238E27FC236}">
                  <a16:creationId xmlns:a16="http://schemas.microsoft.com/office/drawing/2014/main" id="{EC7B01E2-32B1-34B1-E6E0-05E7524E128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961656" cy="560668"/>
            </a:xfrm>
            <a:custGeom>
              <a:avLst/>
              <a:gdLst>
                <a:gd name="T0" fmla="*/ 0 w 1961656"/>
                <a:gd name="T1" fmla="*/ 0 h 560668"/>
                <a:gd name="T2" fmla="*/ 1961656 w 1961656"/>
                <a:gd name="T3" fmla="*/ 0 h 560668"/>
                <a:gd name="T4" fmla="*/ 1961656 w 1961656"/>
                <a:gd name="T5" fmla="*/ 560668 h 560668"/>
                <a:gd name="T6" fmla="*/ 0 w 1961656"/>
                <a:gd name="T7" fmla="*/ 560668 h 560668"/>
                <a:gd name="T8" fmla="*/ 0 w 1961656"/>
                <a:gd name="T9" fmla="*/ 0 h 5606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/>
                </a:gs>
                <a:gs pos="100000">
                  <a:srgbClr val="2A83D0"/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94" name="TextBox 13">
              <a:extLst>
                <a:ext uri="{FF2B5EF4-FFF2-40B4-BE49-F238E27FC236}">
                  <a16:creationId xmlns:a16="http://schemas.microsoft.com/office/drawing/2014/main" id="{EF63DE33-E935-3D8F-1D86-6B576A0C3E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-38100"/>
              <a:ext cx="1961656" cy="598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5400" tIns="25400" rIns="25400" bIns="2540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ts val="1325"/>
                </a:lnSpc>
              </a:pPr>
              <a:endParaRPr lang="en-US" altLang="en-US" sz="700"/>
            </a:p>
          </p:txBody>
        </p:sp>
      </p:grpSp>
      <p:grpSp>
        <p:nvGrpSpPr>
          <p:cNvPr id="2055" name="Group 14">
            <a:extLst>
              <a:ext uri="{FF2B5EF4-FFF2-40B4-BE49-F238E27FC236}">
                <a16:creationId xmlns:a16="http://schemas.microsoft.com/office/drawing/2014/main" id="{40FB596D-89C5-8BEF-297F-E669BCCABEF5}"/>
              </a:ext>
            </a:extLst>
          </p:cNvPr>
          <p:cNvGrpSpPr>
            <a:grpSpLocks/>
          </p:cNvGrpSpPr>
          <p:nvPr/>
        </p:nvGrpSpPr>
        <p:grpSpPr bwMode="auto">
          <a:xfrm rot="2700000">
            <a:off x="7528719" y="-892969"/>
            <a:ext cx="2873375" cy="1966913"/>
            <a:chOff x="0" y="0"/>
            <a:chExt cx="1513855" cy="1036126"/>
          </a:xfrm>
        </p:grpSpPr>
        <p:sp>
          <p:nvSpPr>
            <p:cNvPr id="2091" name="Freeform 15">
              <a:extLst>
                <a:ext uri="{FF2B5EF4-FFF2-40B4-BE49-F238E27FC236}">
                  <a16:creationId xmlns:a16="http://schemas.microsoft.com/office/drawing/2014/main" id="{63E699BB-7CED-ED07-6A84-60D343F3F06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513855" cy="1036126"/>
            </a:xfrm>
            <a:custGeom>
              <a:avLst/>
              <a:gdLst>
                <a:gd name="T0" fmla="*/ 0 w 1513855"/>
                <a:gd name="T1" fmla="*/ 0 h 1036126"/>
                <a:gd name="T2" fmla="*/ 1513855 w 1513855"/>
                <a:gd name="T3" fmla="*/ 0 h 1036126"/>
                <a:gd name="T4" fmla="*/ 1513855 w 1513855"/>
                <a:gd name="T5" fmla="*/ 1036126 h 1036126"/>
                <a:gd name="T6" fmla="*/ 0 w 1513855"/>
                <a:gd name="T7" fmla="*/ 1036126 h 1036126"/>
                <a:gd name="T8" fmla="*/ 0 w 1513855"/>
                <a:gd name="T9" fmla="*/ 0 h 10361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/>
                </a:gs>
                <a:gs pos="100000">
                  <a:srgbClr val="2A83D0"/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92" name="TextBox 16">
              <a:extLst>
                <a:ext uri="{FF2B5EF4-FFF2-40B4-BE49-F238E27FC236}">
                  <a16:creationId xmlns:a16="http://schemas.microsoft.com/office/drawing/2014/main" id="{40E5AC37-6524-E5B0-78CE-42CA035A1A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-38100"/>
              <a:ext cx="1513855" cy="1074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5400" tIns="25400" rIns="25400" bIns="2540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ts val="1325"/>
                </a:lnSpc>
              </a:pPr>
              <a:endParaRPr lang="en-US" altLang="en-US" sz="700"/>
            </a:p>
          </p:txBody>
        </p:sp>
      </p:grpSp>
      <p:grpSp>
        <p:nvGrpSpPr>
          <p:cNvPr id="2056" name="Group 17">
            <a:extLst>
              <a:ext uri="{FF2B5EF4-FFF2-40B4-BE49-F238E27FC236}">
                <a16:creationId xmlns:a16="http://schemas.microsoft.com/office/drawing/2014/main" id="{9893409E-8D81-3DFF-B628-C29E83013A0C}"/>
              </a:ext>
            </a:extLst>
          </p:cNvPr>
          <p:cNvGrpSpPr>
            <a:grpSpLocks/>
          </p:cNvGrpSpPr>
          <p:nvPr/>
        </p:nvGrpSpPr>
        <p:grpSpPr bwMode="auto">
          <a:xfrm rot="2700000">
            <a:off x="6757195" y="4002881"/>
            <a:ext cx="4602162" cy="2124075"/>
            <a:chOff x="0" y="0"/>
            <a:chExt cx="2424267" cy="1118423"/>
          </a:xfrm>
        </p:grpSpPr>
        <p:sp>
          <p:nvSpPr>
            <p:cNvPr id="2089" name="Freeform 18">
              <a:extLst>
                <a:ext uri="{FF2B5EF4-FFF2-40B4-BE49-F238E27FC236}">
                  <a16:creationId xmlns:a16="http://schemas.microsoft.com/office/drawing/2014/main" id="{0484C810-A7FB-F1DB-A9C9-0B8FCAFDF29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424267" cy="1118423"/>
            </a:xfrm>
            <a:custGeom>
              <a:avLst/>
              <a:gdLst>
                <a:gd name="T0" fmla="*/ 0 w 2424267"/>
                <a:gd name="T1" fmla="*/ 0 h 1118423"/>
                <a:gd name="T2" fmla="*/ 2424267 w 2424267"/>
                <a:gd name="T3" fmla="*/ 0 h 1118423"/>
                <a:gd name="T4" fmla="*/ 2424267 w 2424267"/>
                <a:gd name="T5" fmla="*/ 1118423 h 1118423"/>
                <a:gd name="T6" fmla="*/ 0 w 2424267"/>
                <a:gd name="T7" fmla="*/ 1118423 h 1118423"/>
                <a:gd name="T8" fmla="*/ 0 w 2424267"/>
                <a:gd name="T9" fmla="*/ 0 h 11184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/>
                </a:gs>
                <a:gs pos="100000">
                  <a:srgbClr val="2A83D0"/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90" name="TextBox 19">
              <a:extLst>
                <a:ext uri="{FF2B5EF4-FFF2-40B4-BE49-F238E27FC236}">
                  <a16:creationId xmlns:a16="http://schemas.microsoft.com/office/drawing/2014/main" id="{454077CB-554F-0BA3-829F-C128CE8463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-38100"/>
              <a:ext cx="2424267" cy="1156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5400" tIns="25400" rIns="25400" bIns="2540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ts val="1325"/>
                </a:lnSpc>
              </a:pPr>
              <a:endParaRPr lang="en-US" altLang="en-US" sz="700"/>
            </a:p>
          </p:txBody>
        </p:sp>
      </p:grpSp>
      <p:grpSp>
        <p:nvGrpSpPr>
          <p:cNvPr id="2057" name="Group 20">
            <a:extLst>
              <a:ext uri="{FF2B5EF4-FFF2-40B4-BE49-F238E27FC236}">
                <a16:creationId xmlns:a16="http://schemas.microsoft.com/office/drawing/2014/main" id="{184128BF-1635-5BF2-E91A-CF6454CADA49}"/>
              </a:ext>
            </a:extLst>
          </p:cNvPr>
          <p:cNvGrpSpPr>
            <a:grpSpLocks/>
          </p:cNvGrpSpPr>
          <p:nvPr/>
        </p:nvGrpSpPr>
        <p:grpSpPr bwMode="auto">
          <a:xfrm rot="2700000">
            <a:off x="7842250" y="3673475"/>
            <a:ext cx="2166938" cy="1125538"/>
            <a:chOff x="0" y="0"/>
            <a:chExt cx="1141438" cy="593219"/>
          </a:xfrm>
        </p:grpSpPr>
        <p:sp>
          <p:nvSpPr>
            <p:cNvPr id="2087" name="Freeform 21">
              <a:extLst>
                <a:ext uri="{FF2B5EF4-FFF2-40B4-BE49-F238E27FC236}">
                  <a16:creationId xmlns:a16="http://schemas.microsoft.com/office/drawing/2014/main" id="{64FA7EAB-D647-B002-EEA5-DA38AD934F1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141438" cy="593219"/>
            </a:xfrm>
            <a:custGeom>
              <a:avLst/>
              <a:gdLst>
                <a:gd name="T0" fmla="*/ 0 w 1141438"/>
                <a:gd name="T1" fmla="*/ 0 h 593219"/>
                <a:gd name="T2" fmla="*/ 1141438 w 1141438"/>
                <a:gd name="T3" fmla="*/ 0 h 593219"/>
                <a:gd name="T4" fmla="*/ 1141438 w 1141438"/>
                <a:gd name="T5" fmla="*/ 593219 h 593219"/>
                <a:gd name="T6" fmla="*/ 0 w 1141438"/>
                <a:gd name="T7" fmla="*/ 593219 h 593219"/>
                <a:gd name="T8" fmla="*/ 0 w 1141438"/>
                <a:gd name="T9" fmla="*/ 0 h 5932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/>
                </a:gs>
                <a:gs pos="100000">
                  <a:srgbClr val="2A83D0"/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88" name="TextBox 22">
              <a:extLst>
                <a:ext uri="{FF2B5EF4-FFF2-40B4-BE49-F238E27FC236}">
                  <a16:creationId xmlns:a16="http://schemas.microsoft.com/office/drawing/2014/main" id="{1E76810F-A2EE-DDC5-AC15-18CE02FF10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-38100"/>
              <a:ext cx="1141438" cy="631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5400" tIns="25400" rIns="25400" bIns="2540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ts val="1325"/>
                </a:lnSpc>
              </a:pPr>
              <a:endParaRPr lang="en-US" altLang="en-US" sz="700"/>
            </a:p>
          </p:txBody>
        </p:sp>
      </p:grpSp>
      <p:grpSp>
        <p:nvGrpSpPr>
          <p:cNvPr id="2058" name="Group 23">
            <a:extLst>
              <a:ext uri="{FF2B5EF4-FFF2-40B4-BE49-F238E27FC236}">
                <a16:creationId xmlns:a16="http://schemas.microsoft.com/office/drawing/2014/main" id="{94D78758-45A2-253F-0BFF-7B875C907FA1}"/>
              </a:ext>
            </a:extLst>
          </p:cNvPr>
          <p:cNvGrpSpPr>
            <a:grpSpLocks/>
          </p:cNvGrpSpPr>
          <p:nvPr/>
        </p:nvGrpSpPr>
        <p:grpSpPr bwMode="auto">
          <a:xfrm>
            <a:off x="5719763" y="768350"/>
            <a:ext cx="3476625" cy="3476625"/>
            <a:chOff x="0" y="0"/>
            <a:chExt cx="812800" cy="812800"/>
          </a:xfrm>
        </p:grpSpPr>
        <p:sp>
          <p:nvSpPr>
            <p:cNvPr id="2085" name="Freeform 24">
              <a:extLst>
                <a:ext uri="{FF2B5EF4-FFF2-40B4-BE49-F238E27FC236}">
                  <a16:creationId xmlns:a16="http://schemas.microsoft.com/office/drawing/2014/main" id="{AEC2E178-3897-03CB-EEC9-C08C93B6781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812800" cy="812800"/>
            </a:xfrm>
            <a:custGeom>
              <a:avLst/>
              <a:gdLst>
                <a:gd name="T0" fmla="*/ 574675 w 812800"/>
                <a:gd name="T1" fmla="*/ 0 h 812800"/>
                <a:gd name="T2" fmla="*/ 812800 w 812800"/>
                <a:gd name="T3" fmla="*/ 238125 h 812800"/>
                <a:gd name="T4" fmla="*/ 812800 w 812800"/>
                <a:gd name="T5" fmla="*/ 574675 h 812800"/>
                <a:gd name="T6" fmla="*/ 574675 w 812800"/>
                <a:gd name="T7" fmla="*/ 812800 h 812800"/>
                <a:gd name="T8" fmla="*/ 238125 w 812800"/>
                <a:gd name="T9" fmla="*/ 812800 h 812800"/>
                <a:gd name="T10" fmla="*/ 0 w 812800"/>
                <a:gd name="T11" fmla="*/ 574675 h 812800"/>
                <a:gd name="T12" fmla="*/ 0 w 812800"/>
                <a:gd name="T13" fmla="*/ 238125 h 812800"/>
                <a:gd name="T14" fmla="*/ 238125 w 812800"/>
                <a:gd name="T15" fmla="*/ 0 h 812800"/>
                <a:gd name="T16" fmla="*/ 574675 w 812800"/>
                <a:gd name="T17" fmla="*/ 0 h 8128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/>
                </a:gs>
                <a:gs pos="100000">
                  <a:srgbClr val="2A83D0"/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86" name="TextBox 25">
              <a:extLst>
                <a:ext uri="{FF2B5EF4-FFF2-40B4-BE49-F238E27FC236}">
                  <a16:creationId xmlns:a16="http://schemas.microsoft.com/office/drawing/2014/main" id="{D009D0F6-33D8-7252-BC2A-285863253B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500" y="25400"/>
              <a:ext cx="685800" cy="723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9445" tIns="29445" rIns="29445" bIns="29445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ts val="1325"/>
                </a:lnSpc>
              </a:pPr>
              <a:endParaRPr lang="en-US" altLang="en-US"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67CD7256-2532-209B-D540-8137F506B0B3}"/>
              </a:ext>
            </a:extLst>
          </p:cNvPr>
          <p:cNvSpPr/>
          <p:nvPr/>
        </p:nvSpPr>
        <p:spPr>
          <a:xfrm>
            <a:off x="4814888" y="492125"/>
            <a:ext cx="857250" cy="16033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sz="700">
              <a:latin typeface="+mn-lt"/>
            </a:endParaRPr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B623ABFC-FB94-8A41-253E-B9D21457FB5C}"/>
              </a:ext>
            </a:extLst>
          </p:cNvPr>
          <p:cNvSpPr/>
          <p:nvPr/>
        </p:nvSpPr>
        <p:spPr>
          <a:xfrm>
            <a:off x="8435975" y="4383088"/>
            <a:ext cx="857250" cy="158750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sz="700">
              <a:latin typeface="+mn-lt"/>
            </a:endParaRPr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119E91C7-9D7A-C007-4EBF-48C947E861B7}"/>
              </a:ext>
            </a:extLst>
          </p:cNvPr>
          <p:cNvSpPr/>
          <p:nvPr/>
        </p:nvSpPr>
        <p:spPr>
          <a:xfrm>
            <a:off x="8726488" y="4572000"/>
            <a:ext cx="857250" cy="16033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sz="700">
              <a:latin typeface="+mn-lt"/>
            </a:endParaRPr>
          </a:p>
        </p:txBody>
      </p:sp>
      <p:grpSp>
        <p:nvGrpSpPr>
          <p:cNvPr id="2062" name="Group 46">
            <a:extLst>
              <a:ext uri="{FF2B5EF4-FFF2-40B4-BE49-F238E27FC236}">
                <a16:creationId xmlns:a16="http://schemas.microsoft.com/office/drawing/2014/main" id="{48D4BEB9-B5EA-7142-3304-512E44E8FA52}"/>
              </a:ext>
            </a:extLst>
          </p:cNvPr>
          <p:cNvGrpSpPr>
            <a:grpSpLocks/>
          </p:cNvGrpSpPr>
          <p:nvPr/>
        </p:nvGrpSpPr>
        <p:grpSpPr bwMode="auto">
          <a:xfrm>
            <a:off x="-19050" y="2928938"/>
            <a:ext cx="4276725" cy="430212"/>
            <a:chOff x="0" y="2985846"/>
            <a:chExt cx="4276134" cy="431080"/>
          </a:xfrm>
        </p:grpSpPr>
        <p:grpSp>
          <p:nvGrpSpPr>
            <p:cNvPr id="2081" name="Group 28">
              <a:extLst>
                <a:ext uri="{FF2B5EF4-FFF2-40B4-BE49-F238E27FC236}">
                  <a16:creationId xmlns:a16="http://schemas.microsoft.com/office/drawing/2014/main" id="{2C9FE761-5E2A-E85F-F2C6-4D8035E7A4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083" name="Freeform 29">
                <a:extLst>
                  <a:ext uri="{FF2B5EF4-FFF2-40B4-BE49-F238E27FC236}">
                    <a16:creationId xmlns:a16="http://schemas.microsoft.com/office/drawing/2014/main" id="{1ABA7273-D791-5E12-713B-95594157FC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4355842" cy="406400"/>
              </a:xfrm>
              <a:custGeom>
                <a:avLst/>
                <a:gdLst>
                  <a:gd name="T0" fmla="*/ 4152642 w 4355842"/>
                  <a:gd name="T1" fmla="*/ 0 h 406400"/>
                  <a:gd name="T2" fmla="*/ 0 w 4355842"/>
                  <a:gd name="T3" fmla="*/ 0 h 406400"/>
                  <a:gd name="T4" fmla="*/ 0 w 4355842"/>
                  <a:gd name="T5" fmla="*/ 406400 h 406400"/>
                  <a:gd name="T6" fmla="*/ 4152642 w 4355842"/>
                  <a:gd name="T7" fmla="*/ 406400 h 406400"/>
                  <a:gd name="T8" fmla="*/ 4355842 w 4355842"/>
                  <a:gd name="T9" fmla="*/ 203200 h 406400"/>
                  <a:gd name="T10" fmla="*/ 4152642 w 4355842"/>
                  <a:gd name="T11" fmla="*/ 0 h 4064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/>
                  </a:gs>
                  <a:gs pos="100000">
                    <a:srgbClr val="2A83D0"/>
                  </a:gs>
                </a:gsLst>
                <a:lin ang="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84" name="TextBox 30">
                <a:extLst>
                  <a:ext uri="{FF2B5EF4-FFF2-40B4-BE49-F238E27FC236}">
                    <a16:creationId xmlns:a16="http://schemas.microsoft.com/office/drawing/2014/main" id="{0F1A1F91-FA4F-0FB4-7906-2B11BD605D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-38100"/>
                <a:ext cx="4241542" cy="444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25400" tIns="25400" rIns="25400" bIns="25400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ts val="1325"/>
                  </a:lnSpc>
                </a:pPr>
                <a:endParaRPr lang="en-US" altLang="en-US"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C093FC6E-4661-41C4-B3C7-D2CC92D1AAB9}"/>
                </a:ext>
              </a:extLst>
            </p:cNvPr>
            <p:cNvSpPr txBox="1"/>
            <p:nvPr/>
          </p:nvSpPr>
          <p:spPr>
            <a:xfrm>
              <a:off x="466661" y="3100377"/>
              <a:ext cx="3809473" cy="224289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eaLnBrk="1" fontAlgn="auto" hangingPunct="1">
                <a:lnSpc>
                  <a:spcPts val="1943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b="1" spc="583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2063" name="TextBox 40">
            <a:extLst>
              <a:ext uri="{FF2B5EF4-FFF2-40B4-BE49-F238E27FC236}">
                <a16:creationId xmlns:a16="http://schemas.microsoft.com/office/drawing/2014/main" id="{DF8D5E8A-C922-4FD6-CE61-06F04C2EEB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701" y="3655683"/>
            <a:ext cx="1633537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ts val="1300"/>
              </a:lnSpc>
            </a:pPr>
            <a:r>
              <a:rPr lang="en-US" altLang="en-US" sz="100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Name</a:t>
            </a:r>
          </a:p>
        </p:txBody>
      </p:sp>
      <p:sp>
        <p:nvSpPr>
          <p:cNvPr id="2064" name="TextBox 42">
            <a:extLst>
              <a:ext uri="{FF2B5EF4-FFF2-40B4-BE49-F238E27FC236}">
                <a16:creationId xmlns:a16="http://schemas.microsoft.com/office/drawing/2014/main" id="{54B9304E-3CD3-9686-7FC5-AF0850D4F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701" y="3806825"/>
            <a:ext cx="2575453" cy="227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ts val="2038"/>
              </a:lnSpc>
            </a:pPr>
            <a:r>
              <a:rPr lang="en-US" altLang="en-US" sz="1200" b="1" dirty="0">
                <a:solidFill>
                  <a:srgbClr val="0D358D"/>
                </a:solidFill>
                <a:latin typeface="Arial"/>
                <a:ea typeface="Aileron Bold"/>
                <a:cs typeface="Arial"/>
              </a:rPr>
              <a:t>A.R. Anisha </a:t>
            </a:r>
            <a:r>
              <a:rPr lang="en-US" altLang="en-US" sz="1200" b="1" dirty="0" err="1">
                <a:solidFill>
                  <a:srgbClr val="0D358D"/>
                </a:solidFill>
                <a:latin typeface="Arial"/>
                <a:ea typeface="Aileron Bold"/>
                <a:cs typeface="Arial"/>
              </a:rPr>
              <a:t>Priyatharshini</a:t>
            </a:r>
          </a:p>
        </p:txBody>
      </p:sp>
      <p:pic>
        <p:nvPicPr>
          <p:cNvPr id="2065" name="Picture 49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6527A74E-878A-772D-E020-DE645E7F67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56" t="2454" r="27843" b="53700"/>
          <a:stretch>
            <a:fillRect/>
          </a:stretch>
        </p:blipFill>
        <p:spPr bwMode="auto">
          <a:xfrm>
            <a:off x="246902" y="3650921"/>
            <a:ext cx="395287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66" name="TextBox 41">
            <a:extLst>
              <a:ext uri="{FF2B5EF4-FFF2-40B4-BE49-F238E27FC236}">
                <a16:creationId xmlns:a16="http://schemas.microsoft.com/office/drawing/2014/main" id="{7D70B158-BAF5-4C6F-BFE8-8C1DF4590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814" y="3641725"/>
            <a:ext cx="1809750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ts val="1300"/>
              </a:lnSpc>
            </a:pPr>
            <a:r>
              <a:rPr lang="en-US" altLang="en-US" sz="100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Email</a:t>
            </a:r>
          </a:p>
        </p:txBody>
      </p:sp>
      <p:sp>
        <p:nvSpPr>
          <p:cNvPr id="2067" name="TextBox 43">
            <a:extLst>
              <a:ext uri="{FF2B5EF4-FFF2-40B4-BE49-F238E27FC236}">
                <a16:creationId xmlns:a16="http://schemas.microsoft.com/office/drawing/2014/main" id="{6D95FE41-504E-244D-74A8-85997A525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814" y="3792867"/>
            <a:ext cx="2713815" cy="227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ts val="2038"/>
              </a:lnSpc>
            </a:pPr>
            <a:r>
              <a:rPr lang="en-US" altLang="en-US" sz="1200" b="1">
                <a:solidFill>
                  <a:srgbClr val="0D358D"/>
                </a:solidFill>
                <a:latin typeface="Arial"/>
                <a:ea typeface="Aileron Bold"/>
                <a:cs typeface="Arial"/>
              </a:rPr>
              <a:t>anishapriyadharshini12@gmail.com</a:t>
            </a:r>
            <a:endParaRPr lang="en-US" altLang="en-US" sz="1200" b="1" dirty="0">
              <a:solidFill>
                <a:srgbClr val="0D358D"/>
              </a:solidFill>
              <a:latin typeface="Arial" panose="020B0604020202020204" pitchFamily="34" charset="0"/>
              <a:ea typeface="Aileron Bold"/>
              <a:cs typeface="Arial" panose="020B0604020202020204" pitchFamily="34" charset="0"/>
            </a:endParaRPr>
          </a:p>
        </p:txBody>
      </p:sp>
      <p:pic>
        <p:nvPicPr>
          <p:cNvPr id="2068" name="Picture 50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8F303B37-45A3-FF8C-4ABA-4889060F4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59" t="52379" r="26874" b="2348"/>
          <a:stretch>
            <a:fillRect/>
          </a:stretch>
        </p:blipFill>
        <p:spPr bwMode="auto">
          <a:xfrm>
            <a:off x="2888142" y="3610634"/>
            <a:ext cx="396875" cy="38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69" name="Group 65">
            <a:extLst>
              <a:ext uri="{FF2B5EF4-FFF2-40B4-BE49-F238E27FC236}">
                <a16:creationId xmlns:a16="http://schemas.microsoft.com/office/drawing/2014/main" id="{DC6FB98F-AD5A-FA28-FC32-918565D1BCB0}"/>
              </a:ext>
            </a:extLst>
          </p:cNvPr>
          <p:cNvGrpSpPr>
            <a:grpSpLocks/>
          </p:cNvGrpSpPr>
          <p:nvPr/>
        </p:nvGrpSpPr>
        <p:grpSpPr bwMode="auto">
          <a:xfrm>
            <a:off x="709463" y="4326267"/>
            <a:ext cx="2273300" cy="388938"/>
            <a:chOff x="3139699" y="4295282"/>
            <a:chExt cx="2272871" cy="389019"/>
          </a:xfrm>
        </p:grpSpPr>
        <p:sp>
          <p:nvSpPr>
            <p:cNvPr id="2079" name="TextBox 41">
              <a:extLst>
                <a:ext uri="{FF2B5EF4-FFF2-40B4-BE49-F238E27FC236}">
                  <a16:creationId xmlns:a16="http://schemas.microsoft.com/office/drawing/2014/main" id="{C52BB712-A067-B925-7921-B77FA8F941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9699" y="4295282"/>
              <a:ext cx="1809978" cy="1588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ts val="1300"/>
                </a:lnSpc>
              </a:pPr>
              <a:r>
                <a:rPr lang="en-US" altLang="en-US" sz="100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</a:p>
          </p:txBody>
        </p:sp>
        <p:sp>
          <p:nvSpPr>
            <p:cNvPr id="2080" name="TextBox 43">
              <a:extLst>
                <a:ext uri="{FF2B5EF4-FFF2-40B4-BE49-F238E27FC236}">
                  <a16:creationId xmlns:a16="http://schemas.microsoft.com/office/drawing/2014/main" id="{5F22E1C2-0E55-D9D8-D63D-4FD0833D42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9699" y="4456866"/>
              <a:ext cx="2272871" cy="2274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ts val="2038"/>
                </a:lnSpc>
              </a:pPr>
              <a:r>
                <a:rPr lang="en-US" altLang="en-US" sz="1200" b="1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Uma Maheshwari</a:t>
              </a:r>
            </a:p>
          </p:txBody>
        </p:sp>
      </p:grpSp>
      <p:pic>
        <p:nvPicPr>
          <p:cNvPr id="2070" name="Picture 70">
            <a:extLst>
              <a:ext uri="{FF2B5EF4-FFF2-40B4-BE49-F238E27FC236}">
                <a16:creationId xmlns:a16="http://schemas.microsoft.com/office/drawing/2014/main" id="{832BF394-AE78-3A3D-9206-0ADF42954F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10" t="6546" r="28551" b="49509"/>
          <a:stretch>
            <a:fillRect/>
          </a:stretch>
        </p:blipFill>
        <p:spPr bwMode="auto">
          <a:xfrm>
            <a:off x="264364" y="4271094"/>
            <a:ext cx="376238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71" name="Group 48">
            <a:extLst>
              <a:ext uri="{FF2B5EF4-FFF2-40B4-BE49-F238E27FC236}">
                <a16:creationId xmlns:a16="http://schemas.microsoft.com/office/drawing/2014/main" id="{474DE7C8-A687-C5CC-F321-1FF904DAF5ED}"/>
              </a:ext>
            </a:extLst>
          </p:cNvPr>
          <p:cNvGrpSpPr>
            <a:grpSpLocks/>
          </p:cNvGrpSpPr>
          <p:nvPr/>
        </p:nvGrpSpPr>
        <p:grpSpPr bwMode="auto">
          <a:xfrm>
            <a:off x="641350" y="769938"/>
            <a:ext cx="3051175" cy="258762"/>
            <a:chOff x="1068621" y="826472"/>
            <a:chExt cx="2166264" cy="183584"/>
          </a:xfrm>
        </p:grpSpPr>
        <p:pic>
          <p:nvPicPr>
            <p:cNvPr id="2077" name="Picture 54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D012790A-61BD-F34E-9E7D-2D4BBCBFEA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8621" y="826472"/>
              <a:ext cx="632879" cy="1588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78" name="Picture 56" descr="A close up of a logo&#10;&#10;AI-generated content may be incorrect.">
              <a:extLst>
                <a:ext uri="{FF2B5EF4-FFF2-40B4-BE49-F238E27FC236}">
                  <a16:creationId xmlns:a16="http://schemas.microsoft.com/office/drawing/2014/main" id="{080ED0F6-2E5B-4E49-BE6A-43F16F3EE1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0437" y="826472"/>
              <a:ext cx="564448" cy="183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072" name="Shape 7">
            <a:extLst>
              <a:ext uri="{FF2B5EF4-FFF2-40B4-BE49-F238E27FC236}">
                <a16:creationId xmlns:a16="http://schemas.microsoft.com/office/drawing/2014/main" id="{9665C165-C5F4-48F1-6D7A-B0069B6F01BA}"/>
              </a:ext>
            </a:extLst>
          </p:cNvPr>
          <p:cNvSpPr>
            <a:spLocks noChangeArrowheads="1"/>
          </p:cNvSpPr>
          <p:nvPr/>
        </p:nvSpPr>
        <p:spPr bwMode="auto">
          <a:xfrm rot="-3404029">
            <a:off x="5803900" y="2309813"/>
            <a:ext cx="2833687" cy="109538"/>
          </a:xfrm>
          <a:prstGeom prst="rect">
            <a:avLst/>
          </a:prstGeom>
          <a:solidFill>
            <a:srgbClr val="4FC3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2073" name="Shape 8">
            <a:extLst>
              <a:ext uri="{FF2B5EF4-FFF2-40B4-BE49-F238E27FC236}">
                <a16:creationId xmlns:a16="http://schemas.microsoft.com/office/drawing/2014/main" id="{73F04A36-25CA-E90C-6EFB-61A629102070}"/>
              </a:ext>
            </a:extLst>
          </p:cNvPr>
          <p:cNvSpPr>
            <a:spLocks noChangeArrowheads="1"/>
          </p:cNvSpPr>
          <p:nvPr/>
        </p:nvSpPr>
        <p:spPr bwMode="auto">
          <a:xfrm rot="-3404029">
            <a:off x="6146007" y="2413794"/>
            <a:ext cx="2470150" cy="109537"/>
          </a:xfrm>
          <a:prstGeom prst="rect">
            <a:avLst/>
          </a:prstGeom>
          <a:solidFill>
            <a:srgbClr val="4FC3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2074" name="Shape 9">
            <a:extLst>
              <a:ext uri="{FF2B5EF4-FFF2-40B4-BE49-F238E27FC236}">
                <a16:creationId xmlns:a16="http://schemas.microsoft.com/office/drawing/2014/main" id="{014CB5EC-A629-A415-692F-C8C97158E986}"/>
              </a:ext>
            </a:extLst>
          </p:cNvPr>
          <p:cNvSpPr>
            <a:spLocks noChangeArrowheads="1"/>
          </p:cNvSpPr>
          <p:nvPr/>
        </p:nvSpPr>
        <p:spPr bwMode="auto">
          <a:xfrm rot="-3404029">
            <a:off x="6481763" y="2528888"/>
            <a:ext cx="2103437" cy="109537"/>
          </a:xfrm>
          <a:prstGeom prst="rect">
            <a:avLst/>
          </a:prstGeom>
          <a:solidFill>
            <a:srgbClr val="4FC3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2075" name="Shape 9">
            <a:extLst>
              <a:ext uri="{FF2B5EF4-FFF2-40B4-BE49-F238E27FC236}">
                <a16:creationId xmlns:a16="http://schemas.microsoft.com/office/drawing/2014/main" id="{4364247B-C3C2-5F21-E9FE-4278E8D7F287}"/>
              </a:ext>
            </a:extLst>
          </p:cNvPr>
          <p:cNvSpPr>
            <a:spLocks noChangeArrowheads="1"/>
          </p:cNvSpPr>
          <p:nvPr/>
        </p:nvSpPr>
        <p:spPr bwMode="auto">
          <a:xfrm rot="-3404029">
            <a:off x="6735763" y="2647950"/>
            <a:ext cx="1871662" cy="115888"/>
          </a:xfrm>
          <a:prstGeom prst="rect">
            <a:avLst/>
          </a:prstGeom>
          <a:solidFill>
            <a:srgbClr val="4FC3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pic>
        <p:nvPicPr>
          <p:cNvPr id="2076" name="Picture 45">
            <a:extLst>
              <a:ext uri="{FF2B5EF4-FFF2-40B4-BE49-F238E27FC236}">
                <a16:creationId xmlns:a16="http://schemas.microsoft.com/office/drawing/2014/main" id="{F9E20F9D-9F2C-A815-2352-75E325CD8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730"/>
          <a:stretch>
            <a:fillRect/>
          </a:stretch>
        </p:blipFill>
        <p:spPr bwMode="auto">
          <a:xfrm>
            <a:off x="173038" y="1046163"/>
            <a:ext cx="3854450" cy="184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F66973-E39D-2A8D-E407-549BA65110F7}"/>
              </a:ext>
            </a:extLst>
          </p:cNvPr>
          <p:cNvSpPr txBox="1"/>
          <p:nvPr/>
        </p:nvSpPr>
        <p:spPr>
          <a:xfrm>
            <a:off x="434555" y="1421415"/>
            <a:ext cx="3372631" cy="23042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eaLnBrk="1" fontAlgn="auto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800" b="1" kern="1200">
                <a:solidFill>
                  <a:schemeClr val="accent1">
                    <a:lumMod val="49000"/>
                  </a:schemeClr>
                </a:solidFill>
                <a:latin typeface="Book Antiqua"/>
                <a:ea typeface="+mj-ea"/>
                <a:cs typeface="+mj-cs"/>
              </a:rPr>
              <a:t>Project Title :</a:t>
            </a:r>
            <a:endParaRPr lang="en-US" sz="2800" b="1" kern="1200" dirty="0">
              <a:solidFill>
                <a:schemeClr val="accent1">
                  <a:lumMod val="49000"/>
                </a:schemeClr>
              </a:solidFill>
              <a:latin typeface="Book Antiqua"/>
              <a:ea typeface="+mj-ea"/>
              <a:cs typeface="+mj-cs"/>
            </a:endParaRP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endParaRPr lang="en-US" sz="2800" b="1" kern="1200" dirty="0">
              <a:solidFill>
                <a:schemeClr val="accent1">
                  <a:lumMod val="49000"/>
                </a:schemeClr>
              </a:solidFill>
              <a:latin typeface="Book Antiqua"/>
              <a:ea typeface="+mj-ea"/>
              <a:cs typeface="+mj-cs"/>
            </a:endParaRP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800" b="1" kern="1200">
                <a:solidFill>
                  <a:schemeClr val="accent1">
                    <a:lumMod val="49000"/>
                  </a:schemeClr>
                </a:solidFill>
                <a:latin typeface="Book Antiqua"/>
                <a:ea typeface="+mj-ea"/>
                <a:cs typeface="+mj-cs"/>
              </a:rPr>
              <a:t>Employee Payroll Data Cleaning And Financial Analysis</a:t>
            </a:r>
            <a:endParaRPr lang="en-US" sz="2800" b="1" kern="1200" dirty="0">
              <a:solidFill>
                <a:schemeClr val="accent1">
                  <a:lumMod val="49000"/>
                </a:schemeClr>
              </a:solidFill>
              <a:latin typeface="Book Antiqua"/>
              <a:ea typeface="+mj-ea"/>
              <a:cs typeface="+mj-cs"/>
            </a:endParaRP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endParaRPr lang="en-US" sz="28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745582-4D88-B92C-EA81-4CC5715902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17" r="35540"/>
          <a:stretch>
            <a:fillRect/>
          </a:stretch>
        </p:blipFill>
        <p:spPr>
          <a:xfrm>
            <a:off x="4076764" y="417808"/>
            <a:ext cx="5069176" cy="4632809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71E4E172-1EA7-E251-8265-AD4D673154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5053288"/>
            <a:ext cx="9155399" cy="92522"/>
            <a:chOff x="-5025" y="6737718"/>
            <a:chExt cx="12207200" cy="123363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36EE4C1-7905-4652-A645-D2C3112E2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B2D6870-BDC0-AE8B-A7F5-D570327D12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2">
            <a:extLst>
              <a:ext uri="{FF2B5EF4-FFF2-40B4-BE49-F238E27FC236}">
                <a16:creationId xmlns:a16="http://schemas.microsoft.com/office/drawing/2014/main" id="{1471AA97-DAC5-D57A-27FF-7E76BBCED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3299" y="367902"/>
            <a:ext cx="3968748" cy="122158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en-US" sz="3000" b="1">
                <a:latin typeface="+mj-lt"/>
                <a:ea typeface="+mj-ea"/>
                <a:cs typeface="+mj-cs"/>
              </a:rPr>
              <a:t>Outline</a:t>
            </a:r>
            <a:endParaRPr lang="en-US" altLang="en-US" sz="3000">
              <a:latin typeface="+mj-lt"/>
              <a:ea typeface="+mj-ea"/>
              <a:cs typeface="+mj-cs"/>
            </a:endParaRPr>
          </a:p>
        </p:txBody>
      </p:sp>
      <p:pic>
        <p:nvPicPr>
          <p:cNvPr id="4100" name="Picture 4099">
            <a:extLst>
              <a:ext uri="{FF2B5EF4-FFF2-40B4-BE49-F238E27FC236}">
                <a16:creationId xmlns:a16="http://schemas.microsoft.com/office/drawing/2014/main" id="{6BA158EA-CF2F-D08F-9249-03CF51EF41F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83" r="41606" b="1"/>
          <a:stretch>
            <a:fillRect/>
          </a:stretch>
        </p:blipFill>
        <p:spPr>
          <a:xfrm>
            <a:off x="1" y="1190"/>
            <a:ext cx="4571999" cy="5142310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0F6E126-5426-D174-67BC-F26111B603AC}"/>
              </a:ext>
            </a:extLst>
          </p:cNvPr>
          <p:cNvSpPr txBox="1"/>
          <p:nvPr/>
        </p:nvSpPr>
        <p:spPr>
          <a:xfrm>
            <a:off x="4813300" y="1960959"/>
            <a:ext cx="3968747" cy="2814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  <a:defRPr/>
            </a:pPr>
            <a:r>
              <a:rPr lang="en-US" sz="1400">
                <a:latin typeface="+mn-lt"/>
              </a:rPr>
              <a:t>Abstract of the Project</a:t>
            </a:r>
          </a:p>
          <a:p>
            <a:pPr marL="228600" indent="-2286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  <a:defRPr/>
            </a:pPr>
            <a:r>
              <a:rPr lang="en-US" sz="1400">
                <a:latin typeface="+mn-lt"/>
              </a:rPr>
              <a:t>Problem Statement</a:t>
            </a:r>
          </a:p>
          <a:p>
            <a:pPr marL="228600" indent="-2286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  <a:defRPr/>
            </a:pPr>
            <a:r>
              <a:rPr lang="en-US" sz="1400">
                <a:latin typeface="+mn-lt"/>
              </a:rPr>
              <a:t>Proposed Solution</a:t>
            </a:r>
          </a:p>
          <a:p>
            <a:pPr marL="228600" indent="-2286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  <a:defRPr/>
            </a:pPr>
            <a:r>
              <a:rPr lang="en-US" sz="1400">
                <a:latin typeface="+mn-lt"/>
              </a:rPr>
              <a:t>System Architecture</a:t>
            </a:r>
          </a:p>
          <a:p>
            <a:pPr marL="228600" indent="-2286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  <a:defRPr/>
            </a:pPr>
            <a:r>
              <a:rPr lang="en-US" sz="1400">
                <a:latin typeface="+mn-lt"/>
              </a:rPr>
              <a:t>Live Demo of the Project</a:t>
            </a:r>
          </a:p>
          <a:p>
            <a:pPr marL="228600" indent="-2286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  <a:defRPr/>
            </a:pPr>
            <a:r>
              <a:rPr lang="en-US" sz="1400">
                <a:latin typeface="+mn-lt"/>
              </a:rPr>
              <a:t>Embedded Video of Project</a:t>
            </a:r>
          </a:p>
          <a:p>
            <a:pPr marL="228600" indent="-2286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  <a:defRPr/>
            </a:pPr>
            <a:r>
              <a:rPr lang="en-US" sz="1400">
                <a:latin typeface="+mn-lt"/>
              </a:rPr>
              <a:t>Conclusion</a:t>
            </a:r>
          </a:p>
          <a:p>
            <a:pPr marL="228600" indent="-2286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  <a:defRPr/>
            </a:pPr>
            <a:r>
              <a:rPr lang="en-US" sz="1400">
                <a:latin typeface="+mn-lt"/>
              </a:rPr>
              <a:t>Future Scope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2">
            <a:extLst>
              <a:ext uri="{FF2B5EF4-FFF2-40B4-BE49-F238E27FC236}">
                <a16:creationId xmlns:a16="http://schemas.microsoft.com/office/drawing/2014/main" id="{3DBA46E7-9394-DDF5-E7AB-BA7637588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700" y="608013"/>
            <a:ext cx="82296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Abstract</a:t>
            </a:r>
            <a:endParaRPr lang="en-US" altLang="en-US" sz="2000">
              <a:latin typeface="Lato" panose="020F050202020403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Freeform 28">
            <a:extLst>
              <a:ext uri="{FF2B5EF4-FFF2-40B4-BE49-F238E27FC236}">
                <a16:creationId xmlns:a16="http://schemas.microsoft.com/office/drawing/2014/main" id="{0ABBA549-50E1-3782-3F83-374AAC7D26AA}"/>
              </a:ext>
            </a:extLst>
          </p:cNvPr>
          <p:cNvSpPr/>
          <p:nvPr/>
        </p:nvSpPr>
        <p:spPr>
          <a:xfrm>
            <a:off x="6226175" y="839788"/>
            <a:ext cx="2795588" cy="2581275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7172" name="TextBox 9">
            <a:extLst>
              <a:ext uri="{FF2B5EF4-FFF2-40B4-BE49-F238E27FC236}">
                <a16:creationId xmlns:a16="http://schemas.microsoft.com/office/drawing/2014/main" id="{7EC06B87-1329-2257-D27F-96170B521E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00" y="1143000"/>
            <a:ext cx="5826125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This project, Employee Payroll Data Cleaning And Financial Analysis, focuses on transforming raw payroll data into meaningful financial insights.</a:t>
            </a:r>
            <a:endParaRPr lang="en-US" alt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7173" name="TextBox 11">
            <a:extLst>
              <a:ext uri="{FF2B5EF4-FFF2-40B4-BE49-F238E27FC236}">
                <a16:creationId xmlns:a16="http://schemas.microsoft.com/office/drawing/2014/main" id="{E53C50FD-CC64-BEDA-2A4E-06F714DF03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772" y="1822450"/>
            <a:ext cx="5959475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1400">
                <a:latin typeface="Calibri"/>
                <a:ea typeface="Calibri"/>
                <a:cs typeface="Calibri"/>
              </a:rPr>
              <a:t>Objective: T</a:t>
            </a:r>
            <a:r>
              <a:rPr lang="en-US" sz="1400">
                <a:latin typeface="Calibri"/>
                <a:ea typeface="Calibri"/>
                <a:cs typeface="Calibri"/>
              </a:rPr>
              <a:t>o clean and standardize employee payroll </a:t>
            </a:r>
            <a:r>
              <a:rPr lang="en-US" sz="1400" dirty="0">
                <a:latin typeface="Calibri"/>
                <a:ea typeface="Calibri"/>
                <a:cs typeface="Calibri"/>
              </a:rPr>
              <a:t>records and analyze salary-related information for better financial understanding and decision-making.</a:t>
            </a:r>
            <a:endParaRPr lang="en-IN" sz="1400">
              <a:latin typeface="Calibri"/>
              <a:ea typeface="Calibri"/>
              <a:cs typeface="Calibri"/>
            </a:endParaRPr>
          </a:p>
        </p:txBody>
      </p:sp>
      <p:sp>
        <p:nvSpPr>
          <p:cNvPr id="7174" name="TextBox 15">
            <a:extLst>
              <a:ext uri="{FF2B5EF4-FFF2-40B4-BE49-F238E27FC236}">
                <a16:creationId xmlns:a16="http://schemas.microsoft.com/office/drawing/2014/main" id="{FADDB908-2C58-E319-2877-8356CBA8CB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772" y="2569384"/>
            <a:ext cx="59594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1400">
                <a:latin typeface="Calibri"/>
                <a:ea typeface="Calibri"/>
                <a:cs typeface="Calibri"/>
              </a:rPr>
              <a:t>Tools: </a:t>
            </a:r>
            <a:r>
              <a:rPr lang="en-US" sz="1400">
                <a:latin typeface="Calibri"/>
                <a:ea typeface="Calibri"/>
                <a:cs typeface="Calibri"/>
              </a:rPr>
              <a:t>Excel (Formulas), Power BI (Dashboards, Charts, KPI Cards), AI Tools (ChatGPT &amp; Microsoft Copilot)</a:t>
            </a:r>
            <a:endParaRPr lang="en-IN" sz="1400">
              <a:latin typeface="Calibri"/>
              <a:ea typeface="Calibri"/>
              <a:cs typeface="Calibri"/>
            </a:endParaRPr>
          </a:p>
        </p:txBody>
      </p:sp>
      <p:sp>
        <p:nvSpPr>
          <p:cNvPr id="7175" name="TextBox 17">
            <a:extLst>
              <a:ext uri="{FF2B5EF4-FFF2-40B4-BE49-F238E27FC236}">
                <a16:creationId xmlns:a16="http://schemas.microsoft.com/office/drawing/2014/main" id="{DB850DA3-6CE3-66B5-F550-851C7A74C7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843" y="3101855"/>
            <a:ext cx="591820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1400">
                <a:latin typeface="Calibri"/>
                <a:ea typeface="Calibri"/>
                <a:cs typeface="Calibri"/>
              </a:rPr>
              <a:t>Expected outcomes: </a:t>
            </a:r>
            <a:r>
              <a:rPr lang="en-US" sz="1400">
                <a:latin typeface="Calibri"/>
                <a:ea typeface="Calibri"/>
                <a:cs typeface="Calibri"/>
              </a:rPr>
              <a:t>Include cleaned payroll datasets, interactive dashboards, department-wise salary analysis, payroll summaries, and AI-assisted insights for payroll management.</a:t>
            </a:r>
            <a:endParaRPr lang="en-IN" sz="1400">
              <a:latin typeface="Calibri"/>
              <a:ea typeface="Calibri"/>
              <a:cs typeface="Calibri"/>
            </a:endParaRPr>
          </a:p>
        </p:txBody>
      </p:sp>
      <p:sp>
        <p:nvSpPr>
          <p:cNvPr id="7176" name="TextBox 19">
            <a:extLst>
              <a:ext uri="{FF2B5EF4-FFF2-40B4-BE49-F238E27FC236}">
                <a16:creationId xmlns:a16="http://schemas.microsoft.com/office/drawing/2014/main" id="{D9A24651-8862-9A4C-B211-D0F3B47954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843" y="3849358"/>
            <a:ext cx="6880495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Calibri"/>
                <a:ea typeface="Calibri"/>
                <a:cs typeface="Calibri"/>
              </a:rPr>
              <a:t>Highlight: </a:t>
            </a:r>
            <a:r>
              <a:rPr lang="en-US" sz="1400" dirty="0">
                <a:latin typeface="Calibri"/>
                <a:ea typeface="Calibri"/>
                <a:cs typeface="Calibri"/>
              </a:rPr>
              <a:t>The employee payroll dataset is cleaned using preprocessing techniques such as duplicate removal, formatting, and standardization, followed by financial visualization and dashboard creation enhanced with AI assistance.</a:t>
            </a:r>
            <a:endParaRPr lang="en-IN" sz="1400" dirty="0">
              <a:latin typeface="Calibri"/>
              <a:ea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240B8E1A-4251-9931-8F8C-133406488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9625" y="584200"/>
            <a:ext cx="3128963" cy="3128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Text 2">
            <a:extLst>
              <a:ext uri="{FF2B5EF4-FFF2-40B4-BE49-F238E27FC236}">
                <a16:creationId xmlns:a16="http://schemas.microsoft.com/office/drawing/2014/main" id="{75DF4C60-54AA-ABB8-C008-803F11FBD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" y="611188"/>
            <a:ext cx="8229600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Problem Statement</a:t>
            </a:r>
            <a:endParaRPr lang="en-US" altLang="en-US" sz="2000">
              <a:latin typeface="Lato" panose="020F050202020403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221" name="TextBox 4">
            <a:extLst>
              <a:ext uri="{FF2B5EF4-FFF2-40B4-BE49-F238E27FC236}">
                <a16:creationId xmlns:a16="http://schemas.microsoft.com/office/drawing/2014/main" id="{0E2CC340-2314-108B-0841-17BF4EF4EF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" y="1149141"/>
            <a:ext cx="4859338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libri"/>
                <a:ea typeface="Calibri"/>
                <a:cs typeface="Calibri"/>
              </a:rPr>
              <a:t>Organizations manage large volumes of employee payroll records containing salary, allowances, bonuses, tax deductions, and department information.</a:t>
            </a:r>
            <a:endParaRPr lang="en-IN" altLang="en-US" sz="1600" dirty="0">
              <a:latin typeface="Calibri"/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altLang="en-US" sz="1600">
              <a:latin typeface="Calibri"/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altLang="en-US" sz="1600">
              <a:latin typeface="Calibri"/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1600" dirty="0">
              <a:ea typeface="Calibri"/>
              <a:cs typeface="Calibri"/>
            </a:endParaRPr>
          </a:p>
        </p:txBody>
      </p:sp>
      <p:sp>
        <p:nvSpPr>
          <p:cNvPr id="9222" name="TextBox 7">
            <a:extLst>
              <a:ext uri="{FF2B5EF4-FFF2-40B4-BE49-F238E27FC236}">
                <a16:creationId xmlns:a16="http://schemas.microsoft.com/office/drawing/2014/main" id="{11221FE0-112C-9395-B8DF-B7CC5A7B51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" y="2279650"/>
            <a:ext cx="485933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Calibri"/>
                <a:ea typeface="Calibri"/>
                <a:cs typeface="Calibri"/>
              </a:rPr>
              <a:t>Difficulty in identifying top-performing products, regional variations, and discount effectiveness.</a:t>
            </a:r>
            <a:endParaRPr lang="en-IN" altLang="en-US" sz="1600" dirty="0">
              <a:ea typeface="Calibri"/>
              <a:cs typeface="Calibri"/>
            </a:endParaRPr>
          </a:p>
        </p:txBody>
      </p:sp>
      <p:sp>
        <p:nvSpPr>
          <p:cNvPr id="9223" name="TextBox 9">
            <a:extLst>
              <a:ext uri="{FF2B5EF4-FFF2-40B4-BE49-F238E27FC236}">
                <a16:creationId xmlns:a16="http://schemas.microsoft.com/office/drawing/2014/main" id="{4591B3C5-3CC3-1AA1-6238-A661E2A44E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" y="3041650"/>
            <a:ext cx="5529263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en-US" sz="1600">
                <a:latin typeface="Calibri"/>
                <a:ea typeface="Calibri"/>
                <a:cs typeface="Calibri"/>
              </a:rPr>
              <a:t>Managers struggle to convert raw data into actionable insights</a:t>
            </a:r>
            <a:r>
              <a:rPr lang="en-US" altLang="en-US">
                <a:latin typeface="Calibri"/>
                <a:ea typeface="Calibri"/>
                <a:cs typeface="Calibri"/>
              </a:rPr>
              <a:t>.</a:t>
            </a:r>
            <a:endParaRPr lang="en-IN" altLang="en-US">
              <a:ea typeface="Calibri"/>
              <a:cs typeface="Calibri"/>
            </a:endParaRPr>
          </a:p>
        </p:txBody>
      </p:sp>
      <p:sp>
        <p:nvSpPr>
          <p:cNvPr id="9224" name="TextBox 11">
            <a:extLst>
              <a:ext uri="{FF2B5EF4-FFF2-40B4-BE49-F238E27FC236}">
                <a16:creationId xmlns:a16="http://schemas.microsoft.com/office/drawing/2014/main" id="{74A74305-308F-EDF3-888C-FB89BFC4A8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" y="3835400"/>
            <a:ext cx="728186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en-US" sz="1600">
                <a:latin typeface="Calibri"/>
                <a:ea typeface="Calibri"/>
                <a:cs typeface="Calibri"/>
              </a:rPr>
              <a:t>This project addresses the inefficiency of raw datasets, the gap between data and insights, and the need for AI-driven storytelling to complement dashboards.</a:t>
            </a:r>
            <a:endParaRPr lang="en-IN" altLang="en-US" sz="1600">
              <a:ea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7">
            <a:extLst>
              <a:ext uri="{FF2B5EF4-FFF2-40B4-BE49-F238E27FC236}">
                <a16:creationId xmlns:a16="http://schemas.microsoft.com/office/drawing/2014/main" id="{FC58367C-2CB2-8BA7-73C6-B17566435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9525" y="725488"/>
            <a:ext cx="4054475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Text 2">
            <a:extLst>
              <a:ext uri="{FF2B5EF4-FFF2-40B4-BE49-F238E27FC236}">
                <a16:creationId xmlns:a16="http://schemas.microsoft.com/office/drawing/2014/main" id="{6AB4A04F-C9A5-3E09-0DA6-E694FC916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413" y="617538"/>
            <a:ext cx="82296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Proposed Solution</a:t>
            </a:r>
            <a:endParaRPr lang="en-US" altLang="en-US" sz="2000">
              <a:latin typeface="Lato" panose="020F050202020403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268" name="Text 14">
            <a:extLst>
              <a:ext uri="{FF2B5EF4-FFF2-40B4-BE49-F238E27FC236}">
                <a16:creationId xmlns:a16="http://schemas.microsoft.com/office/drawing/2014/main" id="{5F786C2D-9784-6640-2474-5479CA183E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638" y="1279525"/>
            <a:ext cx="3932237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endParaRPr lang="en-US" altLang="en-US" sz="8000"/>
          </a:p>
        </p:txBody>
      </p:sp>
      <p:sp>
        <p:nvSpPr>
          <p:cNvPr id="11269" name="Text 12">
            <a:extLst>
              <a:ext uri="{FF2B5EF4-FFF2-40B4-BE49-F238E27FC236}">
                <a16:creationId xmlns:a16="http://schemas.microsoft.com/office/drawing/2014/main" id="{5E246E58-974D-2698-A54E-0098E345D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413" y="1046163"/>
            <a:ext cx="4416425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270" name="TextBox 2">
            <a:extLst>
              <a:ext uri="{FF2B5EF4-FFF2-40B4-BE49-F238E27FC236}">
                <a16:creationId xmlns:a16="http://schemas.microsoft.com/office/drawing/2014/main" id="{DB0EF745-FAAD-E067-46C8-F87615D0DB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38" y="1279525"/>
            <a:ext cx="5516562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Collecting and understanding the Employee Payroll Dataset.</a:t>
            </a:r>
            <a:endParaRPr lang="en-US">
              <a:latin typeface="Calibri"/>
              <a:ea typeface="Calibri"/>
              <a:cs typeface="Calibri"/>
            </a:endParaRPr>
          </a:p>
          <a:p>
            <a:pPr marL="0" indent="0"/>
            <a:endParaRPr lang="en-US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Cleaning and preprocessing the data: (handling duplicates, inconsistent salary formats, and date standardization).</a:t>
            </a:r>
            <a:endParaRPr lang="en-US">
              <a:latin typeface="Calibri"/>
              <a:ea typeface="Calibri"/>
              <a:cs typeface="Calibri"/>
            </a:endParaRPr>
          </a:p>
          <a:p>
            <a:pPr marL="0" indent="0"/>
            <a:endParaRPr lang="en-US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Applying payroll financial analysis: (department-wise salary analysis, tax deduction analysis, employee distribution).</a:t>
            </a:r>
            <a:endParaRPr lang="en-US">
              <a:latin typeface="Calibri"/>
              <a:ea typeface="Calibri"/>
              <a:cs typeface="Calibri"/>
            </a:endParaRPr>
          </a:p>
          <a:p>
            <a:pPr marL="0" indent="0"/>
            <a:endParaRPr lang="en-US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Building interactive dashboards with: (KPIs such as total employees, total net salary, allowances, and average salary).</a:t>
            </a:r>
            <a:endParaRPr lang="en-US">
              <a:latin typeface="Calibri"/>
              <a:ea typeface="Calibri"/>
              <a:cs typeface="Calibri"/>
            </a:endParaRPr>
          </a:p>
          <a:p>
            <a:pPr marL="0" indent="0"/>
            <a:endParaRPr lang="en-US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Calibri"/>
                <a:ea typeface="Calibri"/>
                <a:cs typeface="Calibri"/>
              </a:rPr>
              <a:t>Integrating AI tools: Microsoft Copilot and ChatGPT for data cleaning guidance, financial insights, and dashboard assistance.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2">
            <a:extLst>
              <a:ext uri="{FF2B5EF4-FFF2-40B4-BE49-F238E27FC236}">
                <a16:creationId xmlns:a16="http://schemas.microsoft.com/office/drawing/2014/main" id="{0C2E2AFD-E0A2-40DB-3DA0-5F48B37AD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175" y="603250"/>
            <a:ext cx="82296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System Architecture</a:t>
            </a:r>
            <a:endParaRPr lang="en-US" altLang="en-US" sz="2000">
              <a:latin typeface="Lato" panose="020F050202020403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D07DB69-8EF1-C19F-8E88-10066C83DBCD}"/>
              </a:ext>
            </a:extLst>
          </p:cNvPr>
          <p:cNvSpPr/>
          <p:nvPr/>
        </p:nvSpPr>
        <p:spPr>
          <a:xfrm>
            <a:off x="234950" y="1243013"/>
            <a:ext cx="4114800" cy="3841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>
              <a:latin typeface="Lato" panose="020F0502020204030203" pitchFamily="34" charset="0"/>
            </a:endParaRPr>
          </a:p>
        </p:txBody>
      </p:sp>
      <p:sp>
        <p:nvSpPr>
          <p:cNvPr id="13316" name="Shape 5">
            <a:extLst>
              <a:ext uri="{FF2B5EF4-FFF2-40B4-BE49-F238E27FC236}">
                <a16:creationId xmlns:a16="http://schemas.microsoft.com/office/drawing/2014/main" id="{8FF686D7-2EBB-6E78-24F7-FD5DD9DAB8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7188" y="1243013"/>
            <a:ext cx="320675" cy="384175"/>
          </a:xfrm>
          <a:prstGeom prst="rect">
            <a:avLst/>
          </a:prstGeom>
          <a:solidFill>
            <a:srgbClr val="1B3A8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>
              <a:latin typeface="Lato" panose="020F0502020204030203" pitchFamily="34" charset="0"/>
            </a:endParaRPr>
          </a:p>
        </p:txBody>
      </p:sp>
      <p:sp>
        <p:nvSpPr>
          <p:cNvPr id="13317" name="Text 6">
            <a:extLst>
              <a:ext uri="{FF2B5EF4-FFF2-40B4-BE49-F238E27FC236}">
                <a16:creationId xmlns:a16="http://schemas.microsoft.com/office/drawing/2014/main" id="{95C6740C-A780-16E9-02DB-DC1C5210D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025" y="1279525"/>
            <a:ext cx="3840163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latin typeface="Lato" panose="020F050202020403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Data Input / Source</a:t>
            </a:r>
            <a:endParaRPr lang="en-US" altLang="en-US" sz="1600">
              <a:latin typeface="Lato" panose="020F050202020403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3318" name="Text 7">
            <a:extLst>
              <a:ext uri="{FF2B5EF4-FFF2-40B4-BE49-F238E27FC236}">
                <a16:creationId xmlns:a16="http://schemas.microsoft.com/office/drawing/2014/main" id="{2E751A46-E97B-EAB3-A859-76725DCFD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25" y="1700213"/>
            <a:ext cx="4251325" cy="1189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C8F9DD6-0D56-18D9-C2DD-6F4EAB6E0E42}"/>
              </a:ext>
            </a:extLst>
          </p:cNvPr>
          <p:cNvSpPr/>
          <p:nvPr/>
        </p:nvSpPr>
        <p:spPr>
          <a:xfrm>
            <a:off x="4670425" y="1243013"/>
            <a:ext cx="4114800" cy="3841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320" name="Shape 9">
            <a:extLst>
              <a:ext uri="{FF2B5EF4-FFF2-40B4-BE49-F238E27FC236}">
                <a16:creationId xmlns:a16="http://schemas.microsoft.com/office/drawing/2014/main" id="{DA5DBCBC-059A-0F11-3BEC-115C698B3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2663" y="1243013"/>
            <a:ext cx="319087" cy="384175"/>
          </a:xfrm>
          <a:prstGeom prst="rect">
            <a:avLst/>
          </a:prstGeom>
          <a:solidFill>
            <a:srgbClr val="1B3A8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>
              <a:latin typeface="Lato" panose="020F0502020204030203" pitchFamily="34" charset="0"/>
            </a:endParaRPr>
          </a:p>
        </p:txBody>
      </p:sp>
      <p:sp>
        <p:nvSpPr>
          <p:cNvPr id="13321" name="Text 10">
            <a:extLst>
              <a:ext uri="{FF2B5EF4-FFF2-40B4-BE49-F238E27FC236}">
                <a16:creationId xmlns:a16="http://schemas.microsoft.com/office/drawing/2014/main" id="{E0F8C2C9-C871-F120-98AB-52FB627FB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0913" y="1279525"/>
            <a:ext cx="384175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latin typeface="Lato" panose="020F050202020403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Processing / Analysis</a:t>
            </a:r>
            <a:endParaRPr lang="en-US" altLang="en-US" sz="1600">
              <a:latin typeface="Lato" panose="020F050202020403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D8EFCA0-11F7-A96C-49DD-9847A218F534}"/>
              </a:ext>
            </a:extLst>
          </p:cNvPr>
          <p:cNvSpPr/>
          <p:nvPr/>
        </p:nvSpPr>
        <p:spPr>
          <a:xfrm>
            <a:off x="4656138" y="1590675"/>
            <a:ext cx="4265612" cy="1298575"/>
          </a:xfrm>
          <a:prstGeom prst="rect">
            <a:avLst/>
          </a:prstGeom>
          <a:noFill/>
          <a:ln/>
        </p:spPr>
        <p:txBody>
          <a:bodyPr lIns="91440" tIns="45720" rIns="91440" bIns="45720" anchor="t"/>
          <a:lstStyle/>
          <a:p>
            <a:pPr>
              <a:buFont typeface="Arial" panose="020B0604020202020204" pitchFamily="34" charset="0"/>
              <a:buChar char="•"/>
              <a:defRPr/>
            </a:pPr>
            <a:endParaRPr lang="en-US" sz="1400" dirty="0">
              <a:latin typeface="Calibri"/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1400">
                <a:latin typeface="Calibri"/>
                <a:ea typeface="Calibri"/>
                <a:cs typeface="Calibri"/>
              </a:rPr>
              <a:t>Data preprocessing: standardized salary and date formats.</a:t>
            </a:r>
            <a:endParaRPr lang="en-US"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sz="1400" dirty="0">
              <a:latin typeface="Calibri"/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1400">
                <a:latin typeface="Calibri"/>
                <a:ea typeface="Calibri"/>
                <a:cs typeface="Calibri"/>
              </a:rPr>
              <a:t>Financial analysis using Excel formulas and Power BI visualizations.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A8A7522-8C64-BB24-CC94-EAE518D1A8CA}"/>
              </a:ext>
            </a:extLst>
          </p:cNvPr>
          <p:cNvSpPr/>
          <p:nvPr/>
        </p:nvSpPr>
        <p:spPr>
          <a:xfrm>
            <a:off x="234950" y="2970213"/>
            <a:ext cx="4114800" cy="3841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>
              <a:latin typeface="Lato" panose="020F0502020204030203" pitchFamily="34" charset="0"/>
            </a:endParaRPr>
          </a:p>
        </p:txBody>
      </p:sp>
      <p:sp>
        <p:nvSpPr>
          <p:cNvPr id="13324" name="Shape 13">
            <a:extLst>
              <a:ext uri="{FF2B5EF4-FFF2-40B4-BE49-F238E27FC236}">
                <a16:creationId xmlns:a16="http://schemas.microsoft.com/office/drawing/2014/main" id="{1ADB6272-B2C7-723D-69B5-27D88E816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7188" y="2970213"/>
            <a:ext cx="320675" cy="384175"/>
          </a:xfrm>
          <a:prstGeom prst="rect">
            <a:avLst/>
          </a:prstGeom>
          <a:solidFill>
            <a:srgbClr val="1B3A8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>
              <a:latin typeface="Lato" panose="020F0502020204030203" pitchFamily="34" charset="0"/>
            </a:endParaRPr>
          </a:p>
        </p:txBody>
      </p:sp>
      <p:sp>
        <p:nvSpPr>
          <p:cNvPr id="13325" name="Text 14">
            <a:extLst>
              <a:ext uri="{FF2B5EF4-FFF2-40B4-BE49-F238E27FC236}">
                <a16:creationId xmlns:a16="http://schemas.microsoft.com/office/drawing/2014/main" id="{28DD57A7-AF55-07B0-1EA3-1D129EF27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025" y="3006725"/>
            <a:ext cx="3840163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latin typeface="Lato" panose="020F050202020403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AI / Tool Integration</a:t>
            </a:r>
            <a:endParaRPr lang="en-US" altLang="en-US" sz="1600">
              <a:latin typeface="Lato" panose="020F050202020403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3326" name="Text 15">
            <a:extLst>
              <a:ext uri="{FF2B5EF4-FFF2-40B4-BE49-F238E27FC236}">
                <a16:creationId xmlns:a16="http://schemas.microsoft.com/office/drawing/2014/main" id="{07F8F7E4-0D00-71F2-487D-8F179D02B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025" y="3427413"/>
            <a:ext cx="4022725" cy="1189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ED4E852-2D19-8C59-3B23-1E8D6A2C100F}"/>
              </a:ext>
            </a:extLst>
          </p:cNvPr>
          <p:cNvSpPr/>
          <p:nvPr/>
        </p:nvSpPr>
        <p:spPr>
          <a:xfrm>
            <a:off x="4670425" y="2970213"/>
            <a:ext cx="4114800" cy="3841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>
              <a:latin typeface="Lato" panose="020F0502020204030203" pitchFamily="34" charset="0"/>
            </a:endParaRPr>
          </a:p>
        </p:txBody>
      </p:sp>
      <p:sp>
        <p:nvSpPr>
          <p:cNvPr id="13328" name="Shape 17">
            <a:extLst>
              <a:ext uri="{FF2B5EF4-FFF2-40B4-BE49-F238E27FC236}">
                <a16:creationId xmlns:a16="http://schemas.microsoft.com/office/drawing/2014/main" id="{ECC527EA-93EC-28B2-979E-E8FE2024B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2663" y="2970213"/>
            <a:ext cx="319087" cy="384175"/>
          </a:xfrm>
          <a:prstGeom prst="rect">
            <a:avLst/>
          </a:prstGeom>
          <a:solidFill>
            <a:srgbClr val="1B3A8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>
              <a:latin typeface="Lato" panose="020F0502020204030203" pitchFamily="34" charset="0"/>
            </a:endParaRPr>
          </a:p>
        </p:txBody>
      </p:sp>
      <p:sp>
        <p:nvSpPr>
          <p:cNvPr id="13329" name="Text 18">
            <a:extLst>
              <a:ext uri="{FF2B5EF4-FFF2-40B4-BE49-F238E27FC236}">
                <a16:creationId xmlns:a16="http://schemas.microsoft.com/office/drawing/2014/main" id="{B5F01CEC-2496-8E8F-4219-A9E2330953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0913" y="3006725"/>
            <a:ext cx="384175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latin typeface="Lato" panose="020F050202020403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Output / Dashboard</a:t>
            </a:r>
            <a:endParaRPr lang="en-US" altLang="en-US" sz="1600">
              <a:latin typeface="Lato" panose="020F050202020403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3330" name="Text 19">
            <a:extLst>
              <a:ext uri="{FF2B5EF4-FFF2-40B4-BE49-F238E27FC236}">
                <a16:creationId xmlns:a16="http://schemas.microsoft.com/office/drawing/2014/main" id="{779D5E29-BBD8-989D-24D0-67FA5C094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0913" y="3427413"/>
            <a:ext cx="4024312" cy="1189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331" name="TextBox 2">
            <a:extLst>
              <a:ext uri="{FF2B5EF4-FFF2-40B4-BE49-F238E27FC236}">
                <a16:creationId xmlns:a16="http://schemas.microsoft.com/office/drawing/2014/main" id="{D93B2F93-2782-9B4B-8A05-9DBC56CB50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950" y="1746250"/>
            <a:ext cx="425291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Employee Payroll Dataset (Excel/CSV format)</a:t>
            </a:r>
            <a:endParaRPr lang="en-IN" altLang="en-US" sz="1400">
              <a:ea typeface="Calibri"/>
              <a:cs typeface="Calibri"/>
            </a:endParaRPr>
          </a:p>
        </p:txBody>
      </p:sp>
      <p:sp>
        <p:nvSpPr>
          <p:cNvPr id="13332" name="TextBox 21">
            <a:extLst>
              <a:ext uri="{FF2B5EF4-FFF2-40B4-BE49-F238E27FC236}">
                <a16:creationId xmlns:a16="http://schemas.microsoft.com/office/drawing/2014/main" id="{11E6EBB4-57B8-AAB3-615E-7624C3A83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3589338"/>
            <a:ext cx="45720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Microsoft Copilot for automated cleaning </a:t>
            </a:r>
            <a:endParaRPr lang="en-US">
              <a:latin typeface="Calibri"/>
              <a:ea typeface="Calibri"/>
              <a:cs typeface="Calibri"/>
            </a:endParaRPr>
          </a:p>
          <a:p>
            <a:pPr marL="0" indent="0"/>
            <a:r>
              <a:rPr lang="en-US" sz="1400">
                <a:latin typeface="Calibri"/>
                <a:ea typeface="Calibri"/>
                <a:cs typeface="Calibri"/>
              </a:rPr>
              <a:t>       Suggestions.</a:t>
            </a:r>
            <a:endParaRPr lang="en-US">
              <a:latin typeface="Calibri"/>
              <a:ea typeface="Calibri"/>
              <a:cs typeface="Calibri"/>
            </a:endParaRPr>
          </a:p>
          <a:p>
            <a:pPr marL="0" indent="0"/>
            <a:endParaRPr lang="en-US" sz="1400" dirty="0">
              <a:latin typeface="Calibri"/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Calibri"/>
                <a:ea typeface="Calibri"/>
                <a:cs typeface="Calibri"/>
              </a:rPr>
              <a:t>ChatGPT for payroll analysis assistance and </a:t>
            </a:r>
            <a:endParaRPr lang="en-IN" sz="1400">
              <a:latin typeface="Calibri"/>
              <a:ea typeface="Calibri"/>
              <a:cs typeface="Calibri"/>
            </a:endParaRPr>
          </a:p>
          <a:p>
            <a:pPr marL="0" indent="0"/>
            <a:r>
              <a:rPr lang="en-US" sz="1400">
                <a:latin typeface="Calibri"/>
                <a:ea typeface="Calibri"/>
                <a:cs typeface="Calibri"/>
              </a:rPr>
              <a:t>       workflow </a:t>
            </a:r>
            <a:r>
              <a:rPr lang="en-US" sz="1400" dirty="0">
                <a:latin typeface="Calibri"/>
                <a:ea typeface="Calibri"/>
                <a:cs typeface="Calibri"/>
              </a:rPr>
              <a:t>guidance.</a:t>
            </a:r>
            <a:endParaRPr lang="en-IN" sz="1400">
              <a:latin typeface="Calibri"/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altLang="en-US" sz="1400" dirty="0">
              <a:latin typeface="Calibri"/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altLang="en-US">
              <a:latin typeface="Calibri"/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dirty="0">
              <a:ea typeface="Calibri"/>
              <a:cs typeface="Calibri"/>
            </a:endParaRPr>
          </a:p>
        </p:txBody>
      </p:sp>
      <p:sp>
        <p:nvSpPr>
          <p:cNvPr id="13333" name="TextBox 23">
            <a:extLst>
              <a:ext uri="{FF2B5EF4-FFF2-40B4-BE49-F238E27FC236}">
                <a16:creationId xmlns:a16="http://schemas.microsoft.com/office/drawing/2014/main" id="{CAC1C0A0-35CA-0FC4-A87C-BCBED9E192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1825" y="3497263"/>
            <a:ext cx="4572000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Calibri"/>
                <a:ea typeface="Calibri"/>
                <a:cs typeface="Calibri"/>
              </a:rPr>
              <a:t>Interactive Payroll Dashboard, Department-wise salary charts, Pie charts and bar charts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1400" dirty="0"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Calibri"/>
                <a:ea typeface="Calibri"/>
                <a:cs typeface="Calibri"/>
              </a:rPr>
              <a:t>KPI cards, payroll summaries and AI-assisted financial insights</a:t>
            </a:r>
            <a:endParaRPr lang="en-US" sz="14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dirty="0">
              <a:ea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EDA3BD-B0E2-C468-12C8-47FACC30D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" y="388189"/>
            <a:ext cx="9138608" cy="4636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2">
            <a:extLst>
              <a:ext uri="{FF2B5EF4-FFF2-40B4-BE49-F238E27FC236}">
                <a16:creationId xmlns:a16="http://schemas.microsoft.com/office/drawing/2014/main" id="{E67EE21E-542D-66B4-CF8D-7C3999209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" y="608013"/>
            <a:ext cx="82296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Live Demo of Project</a:t>
            </a:r>
            <a:endParaRPr lang="en-US" altLang="en-US" sz="2000">
              <a:latin typeface="Lato" panose="020F050202020403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6387" name="Text 4">
            <a:extLst>
              <a:ext uri="{FF2B5EF4-FFF2-40B4-BE49-F238E27FC236}">
                <a16:creationId xmlns:a16="http://schemas.microsoft.com/office/drawing/2014/main" id="{A1AA66F0-D2CF-6E7E-F90C-83E7A1407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413" y="1106488"/>
            <a:ext cx="8412162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Lato" panose="020F050202020403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Here's the list of some demo screenshots / features of the project:</a:t>
            </a:r>
          </a:p>
        </p:txBody>
      </p:sp>
      <p:sp>
        <p:nvSpPr>
          <p:cNvPr id="16388" name="Shape 5">
            <a:extLst>
              <a:ext uri="{FF2B5EF4-FFF2-40B4-BE49-F238E27FC236}">
                <a16:creationId xmlns:a16="http://schemas.microsoft.com/office/drawing/2014/main" id="{80C85CC3-B467-A54D-3094-69BE9E944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7900" y="1647825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>
              <a:latin typeface="Lato" panose="020F0502020204030203" pitchFamily="34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8860A3B-A552-5250-EFAE-B6C7D8000BD5}"/>
              </a:ext>
            </a:extLst>
          </p:cNvPr>
          <p:cNvSpPr/>
          <p:nvPr/>
        </p:nvSpPr>
        <p:spPr>
          <a:xfrm>
            <a:off x="274638" y="2197100"/>
            <a:ext cx="2789237" cy="26511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>
              <a:latin typeface="Lato" panose="020F0502020204030203" pitchFamily="34" charset="0"/>
            </a:endParaRPr>
          </a:p>
        </p:txBody>
      </p:sp>
      <p:sp>
        <p:nvSpPr>
          <p:cNvPr id="16390" name="Text 8">
            <a:extLst>
              <a:ext uri="{FF2B5EF4-FFF2-40B4-BE49-F238E27FC236}">
                <a16:creationId xmlns:a16="http://schemas.microsoft.com/office/drawing/2014/main" id="{B5291909-3593-4C08-1401-0701E610B2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8" y="2414588"/>
            <a:ext cx="2789237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b="1">
                <a:latin typeface="Aptos Display"/>
                <a:ea typeface="Calibri"/>
                <a:cs typeface="Calibri"/>
              </a:rPr>
              <a:t>Demo 1</a:t>
            </a:r>
          </a:p>
        </p:txBody>
      </p:sp>
      <p:sp>
        <p:nvSpPr>
          <p:cNvPr id="16391" name="Text 9">
            <a:extLst>
              <a:ext uri="{FF2B5EF4-FFF2-40B4-BE49-F238E27FC236}">
                <a16:creationId xmlns:a16="http://schemas.microsoft.com/office/drawing/2014/main" id="{0A0C6522-CAB5-FD06-F655-211534853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3" y="2919413"/>
            <a:ext cx="2514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sz="2800" b="1" i="0" u="none" strike="noStrike" baseline="0">
                <a:latin typeface="Calibri"/>
              </a:rPr>
              <a:t>Employee Payroll Dataset</a:t>
            </a:r>
            <a:r>
              <a:rPr lang="en-US" sz="2800" b="1" i="0">
                <a:latin typeface="Calibri"/>
                <a:ea typeface="Calibri"/>
                <a:cs typeface="Calibri"/>
              </a:rPr>
              <a:t>​</a:t>
            </a:r>
            <a:endParaRPr lang="en-US" altLang="en-US" sz="2800" b="1">
              <a:latin typeface="Lato" panose="020F0502020204030203" pitchFamily="34" charset="0"/>
              <a:ea typeface="Lato"/>
              <a:cs typeface="Arial" panose="020B0604020202020204" pitchFamily="34" charset="0"/>
            </a:endParaRPr>
          </a:p>
        </p:txBody>
      </p:sp>
      <p:sp>
        <p:nvSpPr>
          <p:cNvPr id="16392" name="Shape 10">
            <a:extLst>
              <a:ext uri="{FF2B5EF4-FFF2-40B4-BE49-F238E27FC236}">
                <a16:creationId xmlns:a16="http://schemas.microsoft.com/office/drawing/2014/main" id="{B0450B6A-BE6B-D6C7-A684-35F973E2A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2713" y="1647825"/>
            <a:ext cx="1371600" cy="1371600"/>
          </a:xfrm>
          <a:prstGeom prst="ellipse">
            <a:avLst/>
          </a:prstGeom>
          <a:solidFill>
            <a:srgbClr val="FFC000"/>
          </a:solidFill>
          <a:ln w="38100">
            <a:solidFill>
              <a:srgbClr val="FFFFFF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>
              <a:latin typeface="Lato" panose="020F0502020204030203" pitchFamily="34" charset="0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F89D872-8991-53DC-0955-2AC6ABC259B4}"/>
              </a:ext>
            </a:extLst>
          </p:cNvPr>
          <p:cNvSpPr/>
          <p:nvPr/>
        </p:nvSpPr>
        <p:spPr>
          <a:xfrm>
            <a:off x="3219450" y="2197100"/>
            <a:ext cx="2787650" cy="2651125"/>
          </a:xfrm>
          <a:prstGeom prst="rect">
            <a:avLst/>
          </a:prstGeom>
          <a:solidFill>
            <a:srgbClr val="FDF3E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 lIns="91440" tIns="45720" rIns="91440" bIns="45720" anchor="t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en-US" b="1">
              <a:ea typeface="Calibri"/>
              <a:cs typeface="Calibri"/>
            </a:endParaRPr>
          </a:p>
        </p:txBody>
      </p:sp>
      <p:sp>
        <p:nvSpPr>
          <p:cNvPr id="16394" name="Text 13">
            <a:extLst>
              <a:ext uri="{FF2B5EF4-FFF2-40B4-BE49-F238E27FC236}">
                <a16:creationId xmlns:a16="http://schemas.microsoft.com/office/drawing/2014/main" id="{33016D70-8E7B-CE1F-894F-59DF4FF31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9450" y="2414588"/>
            <a:ext cx="2787650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sz="1800" b="1" i="0" u="none" strike="noStrike" baseline="0">
                <a:solidFill>
                  <a:srgbClr val="000000"/>
                </a:solidFill>
                <a:latin typeface="Aptos Display"/>
              </a:rPr>
              <a:t>Demo </a:t>
            </a:r>
            <a:r>
              <a:rPr lang="en-US" b="1">
                <a:solidFill>
                  <a:srgbClr val="000000"/>
                </a:solidFill>
                <a:latin typeface="Aptos Display"/>
              </a:rPr>
              <a:t>2</a:t>
            </a:r>
            <a:r>
              <a:rPr lang="en-US" sz="1800" b="0" i="0" dirty="0">
                <a:solidFill>
                  <a:srgbClr val="000000"/>
                </a:solidFill>
                <a:latin typeface="Aptos Display"/>
                <a:ea typeface="Calibri"/>
                <a:cs typeface="Calibri"/>
              </a:rPr>
              <a:t>​</a:t>
            </a:r>
            <a:endParaRPr lang="en-US" altLang="en-US" sz="1600" b="1">
              <a:latin typeface="Aptos Display"/>
              <a:ea typeface="Calibri"/>
              <a:cs typeface="Arial"/>
            </a:endParaRPr>
          </a:p>
        </p:txBody>
      </p:sp>
      <p:sp>
        <p:nvSpPr>
          <p:cNvPr id="16395" name="Text 14">
            <a:extLst>
              <a:ext uri="{FF2B5EF4-FFF2-40B4-BE49-F238E27FC236}">
                <a16:creationId xmlns:a16="http://schemas.microsoft.com/office/drawing/2014/main" id="{641C95B8-DA41-CEFA-8756-3B43FBCAC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975" y="2919413"/>
            <a:ext cx="2514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IN" sz="2800" b="1" i="0" u="none" strike="noStrike" baseline="0">
                <a:solidFill>
                  <a:srgbClr val="000000"/>
                </a:solidFill>
                <a:latin typeface="Calibri"/>
              </a:rPr>
              <a:t>AI Tool Integration</a:t>
            </a:r>
            <a:r>
              <a:rPr lang="en-IN" sz="2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  <a:endParaRPr lang="en-US" altLang="en-US" sz="2800">
              <a:latin typeface="Lato" panose="020F0502020204030203" pitchFamily="34" charset="0"/>
              <a:ea typeface="Lato"/>
              <a:cs typeface="Arial" panose="020B0604020202020204" pitchFamily="34" charset="0"/>
            </a:endParaRPr>
          </a:p>
        </p:txBody>
      </p:sp>
      <p:sp>
        <p:nvSpPr>
          <p:cNvPr id="16396" name="Shape 15">
            <a:extLst>
              <a:ext uri="{FF2B5EF4-FFF2-40B4-BE49-F238E27FC236}">
                <a16:creationId xmlns:a16="http://schemas.microsoft.com/office/drawing/2014/main" id="{F7B83161-F78E-9825-3725-D2581292C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7525" y="1647825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>
              <a:latin typeface="Lato" panose="020F0502020204030203" pitchFamily="34" charset="0"/>
            </a:endParaRPr>
          </a:p>
        </p:txBody>
      </p:sp>
      <p:sp>
        <p:nvSpPr>
          <p:cNvPr id="16397" name="Text 16">
            <a:extLst>
              <a:ext uri="{FF2B5EF4-FFF2-40B4-BE49-F238E27FC236}">
                <a16:creationId xmlns:a16="http://schemas.microsoft.com/office/drawing/2014/main" id="{618692B6-B796-BA36-C377-18645E02F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7525" y="1647825"/>
            <a:ext cx="1371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endParaRPr lang="en-US" altLang="en-US" sz="3600">
              <a:latin typeface="Lato" panose="020F0502020204030203" pitchFamily="34" charset="0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1C0D5D69-0E35-E397-4DB5-B23B09768AA9}"/>
              </a:ext>
            </a:extLst>
          </p:cNvPr>
          <p:cNvSpPr/>
          <p:nvPr/>
        </p:nvSpPr>
        <p:spPr>
          <a:xfrm>
            <a:off x="6162675" y="2200275"/>
            <a:ext cx="2789238" cy="26527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>
              <a:latin typeface="Lato" panose="020F0502020204030203" pitchFamily="34" charset="0"/>
            </a:endParaRPr>
          </a:p>
        </p:txBody>
      </p:sp>
      <p:sp>
        <p:nvSpPr>
          <p:cNvPr id="16399" name="Text 18">
            <a:extLst>
              <a:ext uri="{FF2B5EF4-FFF2-40B4-BE49-F238E27FC236}">
                <a16:creationId xmlns:a16="http://schemas.microsoft.com/office/drawing/2014/main" id="{63CEA0CE-7D7B-F147-A81F-857FC3B68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2675" y="2414588"/>
            <a:ext cx="2789238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sz="1800" b="1" i="0" u="none" strike="noStrike" baseline="0">
                <a:solidFill>
                  <a:srgbClr val="000000"/>
                </a:solidFill>
                <a:latin typeface="Aptos Display"/>
              </a:rPr>
              <a:t>Demo </a:t>
            </a:r>
            <a:r>
              <a:rPr lang="en-US" b="1">
                <a:solidFill>
                  <a:srgbClr val="000000"/>
                </a:solidFill>
                <a:latin typeface="Aptos Display"/>
              </a:rPr>
              <a:t>3</a:t>
            </a:r>
            <a:endParaRPr lang="en-US">
              <a:latin typeface="Aptos Display"/>
              <a:ea typeface="Calibri"/>
              <a:cs typeface="Calibri"/>
            </a:endParaRPr>
          </a:p>
        </p:txBody>
      </p:sp>
      <p:sp>
        <p:nvSpPr>
          <p:cNvPr id="16400" name="Text 19">
            <a:extLst>
              <a:ext uri="{FF2B5EF4-FFF2-40B4-BE49-F238E27FC236}">
                <a16:creationId xmlns:a16="http://schemas.microsoft.com/office/drawing/2014/main" id="{506AE49E-F269-FFFC-A655-96A95F209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2919413"/>
            <a:ext cx="2514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sz="2800" b="1" i="0" u="none" strike="noStrike" baseline="0">
                <a:solidFill>
                  <a:srgbClr val="000000"/>
                </a:solidFill>
                <a:latin typeface="Calibri"/>
              </a:rPr>
              <a:t>Payroll Charts </a:t>
            </a:r>
            <a:r>
              <a:rPr lang="en-US" sz="2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  <a:endParaRPr lang="en-US" altLang="en-US" sz="2800">
              <a:latin typeface="Lato" panose="020F0502020204030203" pitchFamily="34" charset="0"/>
              <a:ea typeface="Lato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BBFF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2">
            <a:extLst>
              <a:ext uri="{FF2B5EF4-FFF2-40B4-BE49-F238E27FC236}">
                <a16:creationId xmlns:a16="http://schemas.microsoft.com/office/drawing/2014/main" id="{146E7A5F-3FBE-08E6-E549-379020052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675" y="4411133"/>
            <a:ext cx="82296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2200" b="1">
                <a:solidFill>
                  <a:srgbClr val="1B3A8A"/>
                </a:solidFill>
                <a:cs typeface="Calibri" panose="020F0502020204030204" pitchFamily="34" charset="0"/>
              </a:rPr>
              <a:t>Video of Project Demo</a:t>
            </a:r>
            <a:endParaRPr lang="en-US" altLang="en-US" sz="2200"/>
          </a:p>
        </p:txBody>
      </p:sp>
      <p:sp>
        <p:nvSpPr>
          <p:cNvPr id="18436" name="Shape 5">
            <a:extLst>
              <a:ext uri="{FF2B5EF4-FFF2-40B4-BE49-F238E27FC236}">
                <a16:creationId xmlns:a16="http://schemas.microsoft.com/office/drawing/2014/main" id="{F6DB38DF-71C6-374F-A939-034E19C1D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4474633"/>
            <a:ext cx="8413750" cy="384175"/>
          </a:xfrm>
          <a:prstGeom prst="rect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8437" name="Shape 6">
            <a:extLst>
              <a:ext uri="{FF2B5EF4-FFF2-40B4-BE49-F238E27FC236}">
                <a16:creationId xmlns:a16="http://schemas.microsoft.com/office/drawing/2014/main" id="{C5D7227F-6111-9DC0-E078-DEDC67821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4566708"/>
            <a:ext cx="163512" cy="163513"/>
          </a:xfrm>
          <a:prstGeom prst="ellipse">
            <a:avLst/>
          </a:prstGeom>
          <a:solidFill>
            <a:srgbClr val="FF5F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8438" name="Shape 7">
            <a:extLst>
              <a:ext uri="{FF2B5EF4-FFF2-40B4-BE49-F238E27FC236}">
                <a16:creationId xmlns:a16="http://schemas.microsoft.com/office/drawing/2014/main" id="{98BF414C-BC89-A57D-A5C8-DC1619DF9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38" y="4566708"/>
            <a:ext cx="163512" cy="163513"/>
          </a:xfrm>
          <a:prstGeom prst="ellipse">
            <a:avLst/>
          </a:prstGeom>
          <a:solidFill>
            <a:srgbClr val="FEBC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8439" name="Shape 8">
            <a:extLst>
              <a:ext uri="{FF2B5EF4-FFF2-40B4-BE49-F238E27FC236}">
                <a16:creationId xmlns:a16="http://schemas.microsoft.com/office/drawing/2014/main" id="{FA7881F6-2B5E-8634-5F46-7E0214F1C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4566708"/>
            <a:ext cx="163512" cy="163513"/>
          </a:xfrm>
          <a:prstGeom prst="ellipse">
            <a:avLst/>
          </a:prstGeom>
          <a:solidFill>
            <a:srgbClr val="28C84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8440" name="Shape 9">
            <a:extLst>
              <a:ext uri="{FF2B5EF4-FFF2-40B4-BE49-F238E27FC236}">
                <a16:creationId xmlns:a16="http://schemas.microsoft.com/office/drawing/2014/main" id="{5F2B299E-53AC-2DE5-C156-194D5B681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4566708"/>
            <a:ext cx="5029200" cy="200025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8441" name="Text 10">
            <a:extLst>
              <a:ext uri="{FF2B5EF4-FFF2-40B4-BE49-F238E27FC236}">
                <a16:creationId xmlns:a16="http://schemas.microsoft.com/office/drawing/2014/main" id="{C3FA3384-54E7-CC7E-DA28-186C4FA39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4557183"/>
            <a:ext cx="49911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900">
                <a:solidFill>
                  <a:srgbClr val="607D8B"/>
                </a:solidFill>
                <a:latin typeface="Calibri"/>
                <a:ea typeface="Calibri"/>
                <a:cs typeface="Calibri"/>
              </a:rPr>
              <a:t>[</a:t>
            </a:r>
            <a:r>
              <a:rPr lang="en-US" sz="900">
                <a:solidFill>
                  <a:srgbClr val="607D8B"/>
                </a:solidFill>
                <a:latin typeface="Calibri"/>
                <a:ea typeface="Calibri"/>
                <a:cs typeface="Calibri"/>
              </a:rPr>
              <a:t>https://github.com/anishapriyadharshini/Employee-Payroll-Data-Cleaning-And-Financial-Analysis-.git</a:t>
            </a:r>
            <a:r>
              <a:rPr lang="en-US" altLang="en-US" sz="900">
                <a:solidFill>
                  <a:srgbClr val="607D8B"/>
                </a:solidFill>
                <a:latin typeface="Calibri"/>
                <a:ea typeface="Calibri"/>
                <a:cs typeface="Calibri"/>
              </a:rPr>
              <a:t>]</a:t>
            </a:r>
            <a:endParaRPr lang="en-US" alt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18443" name="Text 12">
            <a:extLst>
              <a:ext uri="{FF2B5EF4-FFF2-40B4-BE49-F238E27FC236}">
                <a16:creationId xmlns:a16="http://schemas.microsoft.com/office/drawing/2014/main" id="{BE6B02F1-0DF0-AE0B-37B9-40192DE7E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675" y="1828800"/>
            <a:ext cx="1644650" cy="164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4800">
                <a:solidFill>
                  <a:srgbClr val="FFFFFF"/>
                </a:solidFill>
              </a:rPr>
              <a:t>▶</a:t>
            </a:r>
            <a:endParaRPr lang="en-US" altLang="en-US" sz="4800"/>
          </a:p>
        </p:txBody>
      </p:sp>
      <p:sp>
        <p:nvSpPr>
          <p:cNvPr id="18444" name="Text 13">
            <a:extLst>
              <a:ext uri="{FF2B5EF4-FFF2-40B4-BE49-F238E27FC236}">
                <a16:creationId xmlns:a16="http://schemas.microsoft.com/office/drawing/2014/main" id="{358E3C11-D50C-6D7E-2626-25AA96BC3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794125"/>
            <a:ext cx="7315200" cy="59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endParaRPr lang="en-US" altLang="en-US" sz="1100" i="1" dirty="0">
              <a:solidFill>
                <a:srgbClr val="607D8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86F6EE-B884-B734-07D2-EBD7358D204A}"/>
              </a:ext>
            </a:extLst>
          </p:cNvPr>
          <p:cNvSpPr txBox="1"/>
          <p:nvPr/>
        </p:nvSpPr>
        <p:spPr>
          <a:xfrm>
            <a:off x="730250" y="762000"/>
            <a:ext cx="75459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latin typeface="Aptos Display"/>
                <a:ea typeface="Calibri"/>
                <a:cs typeface="Calibri"/>
              </a:rPr>
              <a:t>Demo 1 : Employee Payroll Dataset</a:t>
            </a:r>
            <a:endParaRPr lang="en-US" b="1">
              <a:latin typeface="Aptos Display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511191-097C-3AF2-E650-3EE40DE79D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8499" y="1366627"/>
            <a:ext cx="4974168" cy="2727749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FF9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A26F6F-756B-AA0B-C930-082F105A5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2">
            <a:extLst>
              <a:ext uri="{FF2B5EF4-FFF2-40B4-BE49-F238E27FC236}">
                <a16:creationId xmlns:a16="http://schemas.microsoft.com/office/drawing/2014/main" id="{29110843-406A-E3D7-A75B-B51AB87031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675" y="4411133"/>
            <a:ext cx="82296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2200" b="1">
                <a:solidFill>
                  <a:srgbClr val="1B3A8A"/>
                </a:solidFill>
                <a:cs typeface="Calibri" panose="020F0502020204030204" pitchFamily="34" charset="0"/>
              </a:rPr>
              <a:t>Video of Project Demo</a:t>
            </a:r>
            <a:endParaRPr lang="en-US" altLang="en-US" sz="2200"/>
          </a:p>
        </p:txBody>
      </p:sp>
      <p:sp>
        <p:nvSpPr>
          <p:cNvPr id="18436" name="Shape 5">
            <a:extLst>
              <a:ext uri="{FF2B5EF4-FFF2-40B4-BE49-F238E27FC236}">
                <a16:creationId xmlns:a16="http://schemas.microsoft.com/office/drawing/2014/main" id="{12258EDB-DE8B-8519-2B77-FF93A1140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4474633"/>
            <a:ext cx="8413750" cy="384175"/>
          </a:xfrm>
          <a:prstGeom prst="rect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8437" name="Shape 6">
            <a:extLst>
              <a:ext uri="{FF2B5EF4-FFF2-40B4-BE49-F238E27FC236}">
                <a16:creationId xmlns:a16="http://schemas.microsoft.com/office/drawing/2014/main" id="{75D8B19A-73AC-5095-B299-CCD01833A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4566708"/>
            <a:ext cx="163512" cy="163513"/>
          </a:xfrm>
          <a:prstGeom prst="ellipse">
            <a:avLst/>
          </a:prstGeom>
          <a:solidFill>
            <a:srgbClr val="FF5F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8438" name="Shape 7">
            <a:extLst>
              <a:ext uri="{FF2B5EF4-FFF2-40B4-BE49-F238E27FC236}">
                <a16:creationId xmlns:a16="http://schemas.microsoft.com/office/drawing/2014/main" id="{91140A59-2C4B-D0A2-C03C-58535AB4F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38" y="4566708"/>
            <a:ext cx="163512" cy="163513"/>
          </a:xfrm>
          <a:prstGeom prst="ellipse">
            <a:avLst/>
          </a:prstGeom>
          <a:solidFill>
            <a:srgbClr val="FEBC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8439" name="Shape 8">
            <a:extLst>
              <a:ext uri="{FF2B5EF4-FFF2-40B4-BE49-F238E27FC236}">
                <a16:creationId xmlns:a16="http://schemas.microsoft.com/office/drawing/2014/main" id="{BCC6404B-D5F4-0FB1-9FBD-6DAE567F9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4566708"/>
            <a:ext cx="163512" cy="163513"/>
          </a:xfrm>
          <a:prstGeom prst="ellipse">
            <a:avLst/>
          </a:prstGeom>
          <a:solidFill>
            <a:srgbClr val="28C84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8440" name="Shape 9">
            <a:extLst>
              <a:ext uri="{FF2B5EF4-FFF2-40B4-BE49-F238E27FC236}">
                <a16:creationId xmlns:a16="http://schemas.microsoft.com/office/drawing/2014/main" id="{25B91F23-01E9-C9C3-51FE-4A7204836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4566708"/>
            <a:ext cx="5029200" cy="200025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8441" name="Text 10">
            <a:extLst>
              <a:ext uri="{FF2B5EF4-FFF2-40B4-BE49-F238E27FC236}">
                <a16:creationId xmlns:a16="http://schemas.microsoft.com/office/drawing/2014/main" id="{3E124C93-1C9B-D686-05EA-74E709191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4557183"/>
            <a:ext cx="49911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900">
                <a:solidFill>
                  <a:srgbClr val="607D8B"/>
                </a:solidFill>
                <a:latin typeface="Calibri"/>
                <a:ea typeface="Calibri"/>
                <a:cs typeface="Calibri"/>
              </a:rPr>
              <a:t>[</a:t>
            </a:r>
            <a:r>
              <a:rPr lang="en-US" sz="900">
                <a:solidFill>
                  <a:srgbClr val="607D8B"/>
                </a:solidFill>
                <a:latin typeface="Calibri"/>
                <a:ea typeface="Calibri"/>
                <a:cs typeface="Calibri"/>
              </a:rPr>
              <a:t>https://github.com/anishapriyadharshini/Employee-Payroll-Data-Cleaning-And-Financial-Analysis-.git</a:t>
            </a:r>
            <a:r>
              <a:rPr lang="en-US" altLang="en-US" sz="900">
                <a:solidFill>
                  <a:srgbClr val="607D8B"/>
                </a:solidFill>
                <a:latin typeface="Calibri"/>
                <a:ea typeface="Calibri"/>
                <a:cs typeface="Calibri"/>
              </a:rPr>
              <a:t>]</a:t>
            </a:r>
            <a:endParaRPr lang="en-US" alt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18443" name="Text 12">
            <a:extLst>
              <a:ext uri="{FF2B5EF4-FFF2-40B4-BE49-F238E27FC236}">
                <a16:creationId xmlns:a16="http://schemas.microsoft.com/office/drawing/2014/main" id="{85F5E96A-0706-4977-9CDD-C2C229050F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675" y="1828800"/>
            <a:ext cx="1644650" cy="164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4800">
                <a:solidFill>
                  <a:srgbClr val="FFFFFF"/>
                </a:solidFill>
              </a:rPr>
              <a:t>▶</a:t>
            </a:r>
            <a:endParaRPr lang="en-US" altLang="en-US" sz="4800"/>
          </a:p>
        </p:txBody>
      </p:sp>
      <p:sp>
        <p:nvSpPr>
          <p:cNvPr id="18444" name="Text 13">
            <a:extLst>
              <a:ext uri="{FF2B5EF4-FFF2-40B4-BE49-F238E27FC236}">
                <a16:creationId xmlns:a16="http://schemas.microsoft.com/office/drawing/2014/main" id="{3E15AE0B-2F61-9BEC-5A36-12D9F0B3C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794125"/>
            <a:ext cx="7315200" cy="59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endParaRPr lang="en-US" altLang="en-US" sz="1100" i="1" dirty="0">
              <a:solidFill>
                <a:srgbClr val="607D8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C3BC26-3EC7-991C-5D7C-9E4EAD0963DE}"/>
              </a:ext>
            </a:extLst>
          </p:cNvPr>
          <p:cNvSpPr txBox="1"/>
          <p:nvPr/>
        </p:nvSpPr>
        <p:spPr>
          <a:xfrm>
            <a:off x="730250" y="762000"/>
            <a:ext cx="75459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latin typeface="Aptos Display"/>
                <a:ea typeface="Calibri"/>
                <a:cs typeface="Calibri"/>
              </a:rPr>
              <a:t>Demo 2 : AI Tool Integration</a:t>
            </a:r>
            <a:endParaRPr lang="en-US" b="1">
              <a:latin typeface="Aptos Display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84C435-CB7D-98B8-5CEA-27066FF1E2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8349" y="1366627"/>
            <a:ext cx="4854468" cy="2727749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94902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FF9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29B29B-9D91-12A7-D515-17D4B2220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2">
            <a:extLst>
              <a:ext uri="{FF2B5EF4-FFF2-40B4-BE49-F238E27FC236}">
                <a16:creationId xmlns:a16="http://schemas.microsoft.com/office/drawing/2014/main" id="{BB2A3E2B-A933-B6E7-DE70-24E4FC443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675" y="4411133"/>
            <a:ext cx="82296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2200" b="1">
                <a:solidFill>
                  <a:srgbClr val="1B3A8A"/>
                </a:solidFill>
                <a:cs typeface="Calibri" panose="020F0502020204030204" pitchFamily="34" charset="0"/>
              </a:rPr>
              <a:t>Video of Project Demo</a:t>
            </a:r>
            <a:endParaRPr lang="en-US" altLang="en-US" sz="2200"/>
          </a:p>
        </p:txBody>
      </p:sp>
      <p:sp>
        <p:nvSpPr>
          <p:cNvPr id="18436" name="Shape 5">
            <a:extLst>
              <a:ext uri="{FF2B5EF4-FFF2-40B4-BE49-F238E27FC236}">
                <a16:creationId xmlns:a16="http://schemas.microsoft.com/office/drawing/2014/main" id="{5862F3D9-4974-D7A6-55E3-ABF8B552C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4474633"/>
            <a:ext cx="8413750" cy="384175"/>
          </a:xfrm>
          <a:prstGeom prst="rect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8437" name="Shape 6">
            <a:extLst>
              <a:ext uri="{FF2B5EF4-FFF2-40B4-BE49-F238E27FC236}">
                <a16:creationId xmlns:a16="http://schemas.microsoft.com/office/drawing/2014/main" id="{6871B83B-9EE5-1400-8BF3-7A33C1A2B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4566708"/>
            <a:ext cx="163512" cy="163513"/>
          </a:xfrm>
          <a:prstGeom prst="ellipse">
            <a:avLst/>
          </a:prstGeom>
          <a:solidFill>
            <a:srgbClr val="FF5F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8438" name="Shape 7">
            <a:extLst>
              <a:ext uri="{FF2B5EF4-FFF2-40B4-BE49-F238E27FC236}">
                <a16:creationId xmlns:a16="http://schemas.microsoft.com/office/drawing/2014/main" id="{42C3BA9A-6A55-7946-3DD4-4FF314E7D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38" y="4566708"/>
            <a:ext cx="163512" cy="163513"/>
          </a:xfrm>
          <a:prstGeom prst="ellipse">
            <a:avLst/>
          </a:prstGeom>
          <a:solidFill>
            <a:srgbClr val="FEBC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8439" name="Shape 8">
            <a:extLst>
              <a:ext uri="{FF2B5EF4-FFF2-40B4-BE49-F238E27FC236}">
                <a16:creationId xmlns:a16="http://schemas.microsoft.com/office/drawing/2014/main" id="{770AAA64-62E1-0886-7278-02FE2C1145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4566708"/>
            <a:ext cx="163512" cy="163513"/>
          </a:xfrm>
          <a:prstGeom prst="ellipse">
            <a:avLst/>
          </a:prstGeom>
          <a:solidFill>
            <a:srgbClr val="28C84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8440" name="Shape 9">
            <a:extLst>
              <a:ext uri="{FF2B5EF4-FFF2-40B4-BE49-F238E27FC236}">
                <a16:creationId xmlns:a16="http://schemas.microsoft.com/office/drawing/2014/main" id="{57588DD2-542A-709C-64D7-6E2A226C4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4566708"/>
            <a:ext cx="5029200" cy="200025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8441" name="Text 10">
            <a:extLst>
              <a:ext uri="{FF2B5EF4-FFF2-40B4-BE49-F238E27FC236}">
                <a16:creationId xmlns:a16="http://schemas.microsoft.com/office/drawing/2014/main" id="{EB5BB8FD-DBAA-8B6A-874C-3269F58B8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4557183"/>
            <a:ext cx="49911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900">
                <a:solidFill>
                  <a:srgbClr val="607D8B"/>
                </a:solidFill>
                <a:latin typeface="Calibri"/>
                <a:ea typeface="Calibri"/>
                <a:cs typeface="Calibri"/>
              </a:rPr>
              <a:t>[</a:t>
            </a:r>
            <a:r>
              <a:rPr lang="en-US" sz="900">
                <a:solidFill>
                  <a:srgbClr val="607D8B"/>
                </a:solidFill>
                <a:latin typeface="Calibri"/>
                <a:ea typeface="Calibri"/>
                <a:cs typeface="Calibri"/>
              </a:rPr>
              <a:t>https://github.com/anishapriyadharshini/Employee-Payroll-Data-Cleaning-And-Financial-Analysis-.git</a:t>
            </a:r>
            <a:r>
              <a:rPr lang="en-US" altLang="en-US" sz="900">
                <a:solidFill>
                  <a:srgbClr val="607D8B"/>
                </a:solidFill>
                <a:latin typeface="Calibri"/>
                <a:ea typeface="Calibri"/>
                <a:cs typeface="Calibri"/>
              </a:rPr>
              <a:t>]</a:t>
            </a:r>
            <a:endParaRPr lang="en-US" alt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18443" name="Text 12">
            <a:extLst>
              <a:ext uri="{FF2B5EF4-FFF2-40B4-BE49-F238E27FC236}">
                <a16:creationId xmlns:a16="http://schemas.microsoft.com/office/drawing/2014/main" id="{D8F8FEF9-AB48-5F19-1CA0-3D3C0EA82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675" y="1828800"/>
            <a:ext cx="1644650" cy="164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4800">
                <a:solidFill>
                  <a:srgbClr val="FFFFFF"/>
                </a:solidFill>
              </a:rPr>
              <a:t>▶</a:t>
            </a:r>
            <a:endParaRPr lang="en-US" altLang="en-US" sz="4800"/>
          </a:p>
        </p:txBody>
      </p:sp>
      <p:sp>
        <p:nvSpPr>
          <p:cNvPr id="18444" name="Text 13">
            <a:extLst>
              <a:ext uri="{FF2B5EF4-FFF2-40B4-BE49-F238E27FC236}">
                <a16:creationId xmlns:a16="http://schemas.microsoft.com/office/drawing/2014/main" id="{C1971E5F-CF03-F931-94E4-FDD9E92D2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794125"/>
            <a:ext cx="7315200" cy="59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endParaRPr lang="en-US" altLang="en-US" sz="1100" i="1" dirty="0">
              <a:solidFill>
                <a:srgbClr val="607D8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43DF6-DF76-5E8A-97E9-EE72EB1F3009}"/>
              </a:ext>
            </a:extLst>
          </p:cNvPr>
          <p:cNvSpPr txBox="1"/>
          <p:nvPr/>
        </p:nvSpPr>
        <p:spPr>
          <a:xfrm>
            <a:off x="730250" y="762000"/>
            <a:ext cx="75459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latin typeface="Aptos Display"/>
                <a:ea typeface="Calibri"/>
                <a:cs typeface="Calibri"/>
              </a:rPr>
              <a:t>Demo 3 : Payroll Charts</a:t>
            </a:r>
            <a:endParaRPr lang="en-US" b="1">
              <a:latin typeface="Aptos Display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D0CD21-6045-CAB4-F9D8-CB1C7267B6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7548" y="1366627"/>
            <a:ext cx="4596070" cy="2727749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69873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2">
            <a:extLst>
              <a:ext uri="{FF2B5EF4-FFF2-40B4-BE49-F238E27FC236}">
                <a16:creationId xmlns:a16="http://schemas.microsoft.com/office/drawing/2014/main" id="{B8DF6D37-233A-6FE7-E64D-38FE932BC2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175" y="612775"/>
            <a:ext cx="82296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Conclusion</a:t>
            </a:r>
            <a:endParaRPr lang="en-US" altLang="en-US" sz="2000">
              <a:latin typeface="Lato" panose="020F050202020403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0483" name="Text 12">
            <a:extLst>
              <a:ext uri="{FF2B5EF4-FFF2-40B4-BE49-F238E27FC236}">
                <a16:creationId xmlns:a16="http://schemas.microsoft.com/office/drawing/2014/main" id="{D1DD5670-EE4C-64DC-9FF0-95A0BAB8C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413" y="1084263"/>
            <a:ext cx="4446587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99787C5-64CC-161E-234A-E67ED81B6FB8}"/>
              </a:ext>
            </a:extLst>
          </p:cNvPr>
          <p:cNvSpPr/>
          <p:nvPr/>
        </p:nvSpPr>
        <p:spPr>
          <a:xfrm>
            <a:off x="5303838" y="3475038"/>
            <a:ext cx="3017837" cy="503237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kern="0" spc="200">
                <a:solidFill>
                  <a:srgbClr val="FFFFFF"/>
                </a:solidFill>
                <a:latin typeface="Lato" panose="020F0502020204030203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>
              <a:latin typeface="Lato" panose="020F0502020204030203" pitchFamily="34" charset="0"/>
            </a:endParaRPr>
          </a:p>
        </p:txBody>
      </p:sp>
      <p:pic>
        <p:nvPicPr>
          <p:cNvPr id="20" name="Picture 19" descr="A blue circle with a pencil and paper with a star on it&#10;&#10;AI-generated content may be incorrect.">
            <a:extLst>
              <a:ext uri="{FF2B5EF4-FFF2-40B4-BE49-F238E27FC236}">
                <a16:creationId xmlns:a16="http://schemas.microsoft.com/office/drawing/2014/main" id="{2B65B136-98E2-636C-C9D7-70CD64736C1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5445614" y="822365"/>
            <a:ext cx="3371979" cy="31019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832F20-110C-274F-2747-8E977EDDAA46}"/>
              </a:ext>
            </a:extLst>
          </p:cNvPr>
          <p:cNvSpPr txBox="1"/>
          <p:nvPr/>
        </p:nvSpPr>
        <p:spPr>
          <a:xfrm>
            <a:off x="295275" y="1196975"/>
            <a:ext cx="5286375" cy="4308872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>
              <a:defRPr/>
            </a:pPr>
            <a:r>
              <a:rPr lang="en-US" sz="1400" dirty="0">
                <a:latin typeface="+mn-lt"/>
              </a:rPr>
              <a:t>This project successfully demonstrates how payroll data cleaning and financial analysis can convert raw employee records into meaningful business insights.</a:t>
            </a:r>
            <a:endParaRPr lang="en-US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latin typeface="+mn-lt"/>
              <a:ea typeface="Calibri"/>
              <a:cs typeface="Calibri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>
                <a:latin typeface="+mn-lt"/>
              </a:rPr>
              <a:t>✔ Achievements:-</a:t>
            </a:r>
            <a:endParaRPr lang="en-US" sz="1400" u="sng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>
              <a:latin typeface="+mn-lt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1400">
                <a:latin typeface="+mn-lt"/>
              </a:rPr>
              <a:t>  Cleaned and standardized payroll dataset</a:t>
            </a:r>
            <a:endParaRPr lang="en-US"/>
          </a:p>
          <a:p>
            <a:pPr>
              <a:defRPr/>
            </a:pPr>
            <a:endParaRPr lang="en-US" sz="1400" dirty="0">
              <a:latin typeface="+mn-lt"/>
              <a:ea typeface="Calibri" panose="020F0502020204030204"/>
              <a:cs typeface="Calibri" panose="020F0502020204030204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1400">
                <a:latin typeface="+mn-lt"/>
              </a:rPr>
              <a:t>  Removed duplicate and inconsistent records</a:t>
            </a:r>
            <a:endParaRPr lang="en-US"/>
          </a:p>
          <a:p>
            <a:pPr>
              <a:defRPr/>
            </a:pPr>
            <a:endParaRPr lang="en-US" sz="1400" dirty="0">
              <a:latin typeface="+mn-lt"/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1400">
                <a:latin typeface="+mn-lt"/>
                <a:ea typeface="Calibri"/>
                <a:cs typeface="Calibri"/>
              </a:rPr>
              <a:t>  Built interactive payroll dashboard</a:t>
            </a:r>
            <a:endParaRPr lang="en-US" sz="1400" dirty="0">
              <a:latin typeface="+mn-lt"/>
              <a:ea typeface="Calibri" panose="020F0502020204030204"/>
              <a:cs typeface="Calibri" panose="020F0502020204030204"/>
            </a:endParaRPr>
          </a:p>
          <a:p>
            <a:pPr>
              <a:defRPr/>
            </a:pPr>
            <a:endParaRPr lang="en-US" sz="1400" dirty="0">
              <a:latin typeface="+mn-lt"/>
              <a:ea typeface="Calibri" panose="020F0502020204030204"/>
              <a:cs typeface="Calibri" panose="020F0502020204030204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1400">
                <a:latin typeface="+mn-lt"/>
              </a:rPr>
              <a:t>  Created charts for salary analysis</a:t>
            </a:r>
            <a:endParaRPr lang="en-US"/>
          </a:p>
          <a:p>
            <a:pPr>
              <a:defRPr/>
            </a:pPr>
            <a:endParaRPr lang="en-US" sz="1400" dirty="0">
              <a:latin typeface="+mn-lt"/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1400">
                <a:latin typeface="+mn-lt"/>
              </a:rPr>
              <a:t>  Generated AI-assisted insights using ChatGPT and Microsoft Copilot</a:t>
            </a:r>
            <a:endParaRPr lang="en-US"/>
          </a:p>
          <a:p>
            <a:pPr>
              <a:buFont typeface="Arial" panose="020B0604020202020204" pitchFamily="34" charset="0"/>
              <a:buChar char="•"/>
              <a:defRPr/>
            </a:pPr>
            <a:endParaRPr lang="en-US"/>
          </a:p>
          <a:p>
            <a:pPr>
              <a:buFont typeface="Arial" panose="020B0604020202020204" pitchFamily="34" charset="0"/>
              <a:buChar char="•"/>
              <a:defRPr/>
            </a:pPr>
            <a:endParaRPr lang="en-US"/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1400" dirty="0">
              <a:latin typeface="+mn-lt"/>
              <a:ea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2">
            <a:extLst>
              <a:ext uri="{FF2B5EF4-FFF2-40B4-BE49-F238E27FC236}">
                <a16:creationId xmlns:a16="http://schemas.microsoft.com/office/drawing/2014/main" id="{206F0A90-C521-8835-AF9E-B44137ACF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158" y="1067858"/>
            <a:ext cx="8229600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1B3A8A"/>
                </a:solidFill>
                <a:latin typeface="Lato"/>
                <a:ea typeface="Calibri"/>
                <a:cs typeface="Arial"/>
              </a:rPr>
              <a:t>   Future Scope</a:t>
            </a:r>
            <a:endParaRPr lang="en-US" altLang="en-US" sz="2000">
              <a:latin typeface="Lato"/>
              <a:ea typeface="Calibri"/>
              <a:cs typeface="Arial"/>
            </a:endParaRPr>
          </a:p>
        </p:txBody>
      </p:sp>
      <p:sp>
        <p:nvSpPr>
          <p:cNvPr id="22531" name="Text 12">
            <a:extLst>
              <a:ext uri="{FF2B5EF4-FFF2-40B4-BE49-F238E27FC236}">
                <a16:creationId xmlns:a16="http://schemas.microsoft.com/office/drawing/2014/main" id="{3B3530EC-D53D-55BD-E0B0-D6141A734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08" y="1671108"/>
            <a:ext cx="5354638" cy="347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 marL="2857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/>
            <a:endParaRPr lang="en-US" altLang="en-US" sz="1400" dirty="0">
              <a:latin typeface="Lato"/>
              <a:ea typeface="Lato"/>
              <a:cs typeface="Arial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Expand payroll dataset with monthly and yearly payroll records.</a:t>
            </a:r>
            <a:endParaRPr lang="en-US">
              <a:latin typeface="Calibri"/>
              <a:ea typeface="Calibri"/>
              <a:cs typeface="Calibri"/>
            </a:endParaRPr>
          </a:p>
          <a:p>
            <a:pPr marL="0" indent="0"/>
            <a:endParaRPr lang="en-US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Integrate predictive analytics for salary forecasting.</a:t>
            </a:r>
            <a:endParaRPr lang="en-US"/>
          </a:p>
          <a:p>
            <a:pPr marL="0" indent="0"/>
            <a:endParaRPr lang="en-US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Add employee performance and attendance analysis.</a:t>
            </a:r>
            <a:endParaRPr lang="en-US">
              <a:latin typeface="Calibri"/>
              <a:ea typeface="Calibri"/>
              <a:cs typeface="Calibri"/>
            </a:endParaRPr>
          </a:p>
          <a:p>
            <a:pPr marL="0" indent="0"/>
            <a:endParaRPr lang="en-US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Deploy dashboards on cloud-based BI platforms.</a:t>
            </a:r>
            <a:endParaRPr lang="en-US">
              <a:latin typeface="Calibri"/>
              <a:ea typeface="Calibri"/>
              <a:cs typeface="Calibri"/>
            </a:endParaRPr>
          </a:p>
          <a:p>
            <a:pPr marL="0" indent="0"/>
            <a:endParaRPr lang="en-US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Integrate payroll analysis with HR management systems.</a:t>
            </a:r>
            <a:endParaRPr lang="en-US">
              <a:latin typeface="Calibri"/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  <a:p>
            <a:pPr marL="0" indent="0"/>
            <a:endParaRPr lang="en-US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1400" dirty="0">
              <a:latin typeface="Lato" panose="020F0502020204030203" pitchFamily="34" charset="0"/>
              <a:ea typeface="Lato"/>
              <a:cs typeface="Arial" panose="020B0604020202020204" pitchFamily="34" charset="0"/>
            </a:endParaRPr>
          </a:p>
        </p:txBody>
      </p:sp>
      <p:pic>
        <p:nvPicPr>
          <p:cNvPr id="22532" name="Picture 1">
            <a:extLst>
              <a:ext uri="{FF2B5EF4-FFF2-40B4-BE49-F238E27FC236}">
                <a16:creationId xmlns:a16="http://schemas.microsoft.com/office/drawing/2014/main" id="{A5317386-1E65-3A42-EF0D-48A916C44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879475"/>
            <a:ext cx="3581400" cy="268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93965D70-25F8-7BCE-AD12-4B8460E613E5}"/>
              </a:ext>
            </a:extLst>
          </p:cNvPr>
          <p:cNvSpPr/>
          <p:nvPr/>
        </p:nvSpPr>
        <p:spPr>
          <a:xfrm>
            <a:off x="914400" y="3017838"/>
            <a:ext cx="7315200" cy="411162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spc="20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579" name="Text 4">
            <a:extLst>
              <a:ext uri="{FF2B5EF4-FFF2-40B4-BE49-F238E27FC236}">
                <a16:creationId xmlns:a16="http://schemas.microsoft.com/office/drawing/2014/main" id="{43BBF249-8F9B-BCC3-BEBF-DE3DC8019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565525"/>
            <a:ext cx="73152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>
                <a:latin typeface="Lato" panose="020F050202020403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 LinkedIn  |   Edunet Foundation</a:t>
            </a:r>
          </a:p>
        </p:txBody>
      </p:sp>
      <p:sp>
        <p:nvSpPr>
          <p:cNvPr id="24580" name="TextBox 4">
            <a:extLst>
              <a:ext uri="{FF2B5EF4-FFF2-40B4-BE49-F238E27FC236}">
                <a16:creationId xmlns:a16="http://schemas.microsoft.com/office/drawing/2014/main" id="{712FB5D5-31A0-E797-D2AA-6B09963D5D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1493" y="1349135"/>
            <a:ext cx="3650232" cy="12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10688"/>
              </a:lnSpc>
            </a:pPr>
            <a:r>
              <a:rPr lang="en-US" sz="5400" b="1">
                <a:solidFill>
                  <a:schemeClr val="accent1">
                    <a:lumMod val="76000"/>
                  </a:schemeClr>
                </a:solidFill>
                <a:latin typeface="Book Antiqua"/>
                <a:ea typeface="Calibri"/>
                <a:cs typeface="Calibri"/>
                <a:sym typeface="Aileron Ultra-Bold"/>
              </a:rPr>
              <a:t>Thank You</a:t>
            </a:r>
            <a:endParaRPr lang="en-US" sz="5400" b="1">
              <a:solidFill>
                <a:schemeClr val="accent1">
                  <a:lumMod val="76000"/>
                </a:schemeClr>
              </a:solidFill>
              <a:latin typeface="Book Antiqua"/>
              <a:ea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606</Words>
  <Application>Microsoft Office PowerPoint</Application>
  <PresentationFormat>On-screen Show (16:9)</PresentationFormat>
  <Paragraphs>100</Paragraphs>
  <Slides>15</Slides>
  <Notes>13</Notes>
  <HiddenSlides>0</HiddenSlides>
  <MMClips>2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K. Chandanaa</cp:lastModifiedBy>
  <cp:revision>457</cp:revision>
  <dcterms:created xsi:type="dcterms:W3CDTF">2026-02-18T09:17:23Z</dcterms:created>
  <dcterms:modified xsi:type="dcterms:W3CDTF">2026-05-08T20:30:48Z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